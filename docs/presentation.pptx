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77ad483a104c2c" /><Relationship Type="http://schemas.openxmlformats.org/officeDocument/2006/relationships/extended-properties" Target="/docProps/app.xml" Id="Ra99c8afb1cb44ff6" /><Relationship Type="http://schemas.openxmlformats.org/officeDocument/2006/relationships/officeDocument" Target="/ppt/presentation.xml" Id="R1ba7357c52434474" /></Relationships>
</file>

<file path=ppt/presentation.xml><?xml version="1.0" encoding="utf-8"?>
<p:presentation xmlns:p="http://schemas.openxmlformats.org/presentationml/2006/main">
  <p:sldMasterIdLst>
    <p:sldMasterId xmlns:r="http://schemas.openxmlformats.org/officeDocument/2006/relationships" id="2147483648" r:id="R12e3cc1fccc34d35"/>
  </p:sldMasterIdLst>
  <p:notesMasterIdLst>
    <p:notesMasterId xmlns:r="http://schemas.openxmlformats.org/officeDocument/2006/relationships" r:id="Rd0998afe08614503"/>
  </p:notesMasterIdLst>
  <p:sldIdLst>
    <p:sldId xmlns:r="http://schemas.openxmlformats.org/officeDocument/2006/relationships" id="256" r:id="Rafa4010f64e64675"/>
    <p:sldId xmlns:r="http://schemas.openxmlformats.org/officeDocument/2006/relationships" id="257" r:id="R8c0ad7eb78644db6"/>
    <p:sldId xmlns:r="http://schemas.openxmlformats.org/officeDocument/2006/relationships" id="258" r:id="R28bea69ac0d945cf"/>
    <p:sldId xmlns:r="http://schemas.openxmlformats.org/officeDocument/2006/relationships" id="259" r:id="R089cc554273c4dcf"/>
    <p:sldId xmlns:r="http://schemas.openxmlformats.org/officeDocument/2006/relationships" id="260" r:id="R0d07f09cfb77447e"/>
    <p:sldId xmlns:r="http://schemas.openxmlformats.org/officeDocument/2006/relationships" id="261" r:id="Rdea86b3ad81c464c"/>
    <p:sldId xmlns:r="http://schemas.openxmlformats.org/officeDocument/2006/relationships" id="262" r:id="Rcc8a13ba27934721"/>
    <p:sldId xmlns:r="http://schemas.openxmlformats.org/officeDocument/2006/relationships" id="263" r:id="R33eed5a0dbc04f21"/>
    <p:sldId xmlns:r="http://schemas.openxmlformats.org/officeDocument/2006/relationships" id="264" r:id="Rec4297cec8ec4d54"/>
    <p:sldId xmlns:r="http://schemas.openxmlformats.org/officeDocument/2006/relationships" id="265" r:id="R95daa787361b488c"/>
    <p:sldId xmlns:r="http://schemas.openxmlformats.org/officeDocument/2006/relationships" id="266" r:id="Rfaecc8fb0bcc4e7b"/>
    <p:sldId xmlns:r="http://schemas.openxmlformats.org/officeDocument/2006/relationships" id="267" r:id="Rfea48555d25446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5572965b7f4802" /><Relationship Type="http://schemas.openxmlformats.org/officeDocument/2006/relationships/slideMaster" Target="/ppt/slideMasters/slideMaster1.xml" Id="R12e3cc1fccc34d35" /><Relationship Type="http://schemas.openxmlformats.org/officeDocument/2006/relationships/notesMaster" Target="/ppt/notesMasters/notesMaster1.xml" Id="Rd0998afe08614503" /><Relationship Type="http://schemas.openxmlformats.org/officeDocument/2006/relationships/presProps" Target="/ppt/presProps.xml" Id="R117b703f0c8142c7" /><Relationship Type="http://schemas.openxmlformats.org/officeDocument/2006/relationships/tableStyles" Target="/ppt/tableStyles.xml" Id="R86083458b62b49ee" /><Relationship Type="http://schemas.openxmlformats.org/officeDocument/2006/relationships/slide" Target="/ppt/slides/slide1.xml" Id="Rafa4010f64e64675" /><Relationship Type="http://schemas.openxmlformats.org/officeDocument/2006/relationships/slide" Target="/ppt/slides/slide2.xml" Id="R8c0ad7eb78644db6" /><Relationship Type="http://schemas.openxmlformats.org/officeDocument/2006/relationships/slide" Target="/ppt/slides/slide3.xml" Id="R28bea69ac0d945cf" /><Relationship Type="http://schemas.openxmlformats.org/officeDocument/2006/relationships/slide" Target="/ppt/slides/slide4.xml" Id="R089cc554273c4dcf" /><Relationship Type="http://schemas.openxmlformats.org/officeDocument/2006/relationships/slide" Target="/ppt/slides/slide5.xml" Id="R0d07f09cfb77447e" /><Relationship Type="http://schemas.openxmlformats.org/officeDocument/2006/relationships/slide" Target="/ppt/slides/slide6.xml" Id="Rdea86b3ad81c464c" /><Relationship Type="http://schemas.openxmlformats.org/officeDocument/2006/relationships/slide" Target="/ppt/slides/slide7.xml" Id="Rcc8a13ba27934721" /><Relationship Type="http://schemas.openxmlformats.org/officeDocument/2006/relationships/slide" Target="/ppt/slides/slide8.xml" Id="R33eed5a0dbc04f21" /><Relationship Type="http://schemas.openxmlformats.org/officeDocument/2006/relationships/slide" Target="/ppt/slides/slide9.xml" Id="Rec4297cec8ec4d54" /><Relationship Type="http://schemas.openxmlformats.org/officeDocument/2006/relationships/slide" Target="/ppt/slides/slide10.xml" Id="R95daa787361b488c" /><Relationship Type="http://schemas.openxmlformats.org/officeDocument/2006/relationships/slide" Target="/ppt/slides/slide11.xml" Id="Rfaecc8fb0bcc4e7b" /><Relationship Type="http://schemas.openxmlformats.org/officeDocument/2006/relationships/slide" Target="/ppt/slides/slide12.xml" Id="Rfea48555d25446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99bec5670748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d03ef7ad1c401f" /><Relationship Type="http://schemas.openxmlformats.org/officeDocument/2006/relationships/notesMaster" Target="/ppt/notesMasters/notesMaster1.xml" Id="Rce0917ab78db44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32ef495f7c422e" /><Relationship Type="http://schemas.openxmlformats.org/officeDocument/2006/relationships/notesMaster" Target="/ppt/notesMasters/notesMaster1.xml" Id="R5b70973c209f49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ff8b96c1ea4b33" /><Relationship Type="http://schemas.openxmlformats.org/officeDocument/2006/relationships/notesMaster" Target="/ppt/notesMasters/notesMaster1.xml" Id="Rc35f8e48792e4b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b1e9a73adb4bfc" /><Relationship Type="http://schemas.openxmlformats.org/officeDocument/2006/relationships/notesMaster" Target="/ppt/notesMasters/notesMaster1.xml" Id="Rb2367fcfcc1542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858ce19d0741a8" /><Relationship Type="http://schemas.openxmlformats.org/officeDocument/2006/relationships/notesMaster" Target="/ppt/notesMasters/notesMaster1.xml" Id="R4568fc78566448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ee49f339204886" /><Relationship Type="http://schemas.openxmlformats.org/officeDocument/2006/relationships/notesMaster" Target="/ppt/notesMasters/notesMaster1.xml" Id="Ra82673997b754e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45ea87f2734ebb" /><Relationship Type="http://schemas.openxmlformats.org/officeDocument/2006/relationships/notesMaster" Target="/ppt/notesMasters/notesMaster1.xml" Id="R526de3b07f81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e2289390684691" /><Relationship Type="http://schemas.openxmlformats.org/officeDocument/2006/relationships/notesMaster" Target="/ppt/notesMasters/notesMaster1.xml" Id="R7f001e65465d4b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6f2c5cc6984303" /><Relationship Type="http://schemas.openxmlformats.org/officeDocument/2006/relationships/notesMaster" Target="/ppt/notesMasters/notesMaster1.xml" Id="R0b25e3330d7540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3da68b1fc44fdc" /><Relationship Type="http://schemas.openxmlformats.org/officeDocument/2006/relationships/notesMaster" Target="/ppt/notesMasters/notesMaster1.xml" Id="R021c8178cb5e40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d687f82728469e" /><Relationship Type="http://schemas.openxmlformats.org/officeDocument/2006/relationships/notesMaster" Target="/ppt/notesMasters/notesMaster1.xml" Id="Rca5d2f47e30740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1b51987765443c" /><Relationship Type="http://schemas.openxmlformats.org/officeDocument/2006/relationships/notesMaster" Target="/ppt/notesMasters/notesMaster1.xml" Id="R215f323b231248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Тема связывает биологическую задачу, выбор платформы и бюджет. Откройте выступление с результатом на следующем слайде. Имена на титуле обозначают команду, но технический вклад подтверждается отдельно.</a:t>
            </a:r>
          </a:p>
          <a:p xmlns:a="http://schemas.openxmlformats.org/drawingml/2006/main">
            <a:r>
              <a:t/>
            </a:r>
          </a:p>
          <a:p xmlns:a="http://schemas.openxmlformats.org/drawingml/2006/main">
            <a:r>
              <a:t>EN: The project provides a reviewable sequencing design for an organism, question and budget.</a:t>
            </a:r>
          </a:p>
          <a:p xmlns:a="http://schemas.openxmlformats.org/drawingml/2006/main">
            <a:r>
              <a:t/>
            </a:r>
          </a:p>
          <a:p xmlns:a="http://schemas.openxmlformats.org/drawingml/2006/main">
            <a:r>
              <a:t>Sources:</a:t>
            </a:r>
          </a:p>
          <a:p xmlns:a="http://schemas.openxmlformats.org/drawingml/2006/main">
            <a:r>
              <a:t>AITU Bioinformatics Course Project Handbook, Project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График показывает долю референса с минимум одним принятым aligned наблюдением. Все точки получены из настоящих архивных чтений. Подмножества вложены внутри seed. Правило plateau: минимум95% breadth и два соседних прироста меньше1 процентного пункта. Порог относится к этой метрике и этому пулу, не к accuracy variant caller.</a:t>
            </a:r>
          </a:p>
          <a:p xmlns:a="http://schemas.openxmlformats.org/drawingml/2006/main">
            <a:r>
              <a:t/>
            </a:r>
          </a:p>
          <a:p xmlns:a="http://schemas.openxmlformats.org/drawingml/2006/main">
            <a:r>
              <a:t>EN: Actual within-pool downsampling measures reference breadth. The plateau is endpoint-specific. Seeds17,29,43 describe technical sampling variation. The acquired inputs are ordered prefixes. Paired overlapping bases count twice.</a:t>
            </a:r>
          </a:p>
          <a:p xmlns:a="http://schemas.openxmlformats.org/drawingml/2006/main">
            <a:r>
              <a:t/>
            </a:r>
          </a:p>
          <a:p xmlns:a="http://schemas.openxmlformats.org/drawingml/2006/main">
            <a:r>
              <a:t>Sources:</a:t>
            </a:r>
          </a:p>
          <a:p xmlns:a="http://schemas.openxmlformats.org/drawingml/2006/main">
            <a:r>
              <a:t>Project outputs: C:\Users\админ\Documents\Codex\2026-10-06\the-sequencing-experiment-design-advisor-x20\outputs\sequencing-advisor\results\summary.json</a:t>
            </a:r>
          </a:p>
          <a:p xmlns:a="http://schemas.openxmlformats.org/drawingml/2006/main">
            <a:r>
              <a:t>Project outputs: C:\Users\админ\Documents\Codex\2026-10-06\the-sequencing-experiment-design-advisor-x20\outputs\sequencing-advisor\results\saturation.json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Вариант требует надёжной поддержки локального аллеля. RNA sampling неравномерен по abundance, и biological replicates нужны для дисперсии. Assembly требует информативной длины молекулы для повторов. Больше коротких чтений не всегда решает длинный повтор.</a:t>
            </a:r>
          </a:p>
          <a:p xmlns:a="http://schemas.openxmlformats.org/drawingml/2006/main">
            <a:r>
              <a:t/>
            </a:r>
          </a:p>
          <a:p xmlns:a="http://schemas.openxmlformats.org/drawingml/2006/main">
            <a:r>
              <a:t>EN: Variant calling, expression and assembly require different evidence. Replication cannot be replaced by deeper RNA libraries. Repeat structure constrains assembly.</a:t>
            </a:r>
          </a:p>
          <a:p xmlns:a="http://schemas.openxmlformats.org/drawingml/2006/main">
            <a:r>
              <a:t/>
            </a:r>
          </a:p>
          <a:p xmlns:a="http://schemas.openxmlformats.org/drawingml/2006/main">
            <a:r>
              <a:t>Sources:</a:t>
            </a:r>
          </a:p>
          <a:p xmlns:a="http://schemas.openxmlformats.org/drawingml/2006/main">
            <a:r>
              <a:t>https://pmc.ncbi.nlm.nih.gov/articles/PMC3904521/</a:t>
            </a:r>
          </a:p>
          <a:p xmlns:a="http://schemas.openxmlformats.org/drawingml/2006/main">
            <a:r>
              <a:t>https://pmc.ncbi.nlm.nih.gov/articles/PMC4878611/</a:t>
            </a:r>
          </a:p>
          <a:p xmlns:a="http://schemas.openxmlformats.org/drawingml/2006/main">
            <a:r>
              <a:t>https://doi.org/10.1371/journal.pcbi.1005595</a:t>
            </a:r>
          </a:p>
          <a:p xmlns:a="http://schemas.openxmlformats.org/drawingml/2006/main">
            <a:r>
              <a:t>https://doi.org/10.1186/1471-2105-14-S5-S18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Illumina BioSample SAMN02401358 относится к PRJNA227741. ONT BioSample SAMN48541625 относится к PRJNA1222438. Имя strain одинаково, aliquot не одинаковый. NCBI Design WGS противоречит Strategy WGA, поэтому amplification status неопределён. ENA first_public ONT2025-05-24 отличается на день от NCBI2025-05-23.</a:t>
            </a:r>
          </a:p>
          <a:p xmlns:a="http://schemas.openxmlformats.org/drawingml/2006/main">
            <a:r>
              <a:t/>
            </a:r>
          </a:p>
          <a:p xmlns:a="http://schemas.openxmlformats.org/drawingml/2006/main">
            <a:r>
              <a:t>EN: The pilot records accession, source URL, retrieval date and local SHA256. Prefix acquisition limits representativeness. Complete-archive MD5 validation does not apply to rewritten prefixes. Same strain label does not prove identical aliquots.</a:t>
            </a:r>
          </a:p>
          <a:p xmlns:a="http://schemas.openxmlformats.org/drawingml/2006/main">
            <a:r>
              <a:t/>
            </a:r>
          </a:p>
          <a:p xmlns:a="http://schemas.openxmlformats.org/drawingml/2006/main">
            <a:r>
              <a:t>Sources:</a:t>
            </a:r>
          </a:p>
          <a:p xmlns:a="http://schemas.openxmlformats.org/drawingml/2006/main">
            <a:r>
              <a:t>Project provenance: data/raw/manifest.json</a:t>
            </a:r>
          </a:p>
          <a:p xmlns:a="http://schemas.openxmlformats.org/drawingml/2006/main">
            <a:r>
              <a:t>Project provenance: data/raw/selected_runs.tsv</a:t>
            </a:r>
          </a:p>
          <a:p xmlns:a="http://schemas.openxmlformats.org/drawingml/2006/main">
            <a:r>
              <a:t>https://www.ncbi.nlm.nih.gov/sra/SRX28830916%5Baccn%5D</a:t>
            </a:r>
          </a:p>
          <a:p xmlns:a="http://schemas.openxmlformats.org/drawingml/2006/main">
            <a:r>
              <a:t>https://academic.oup.com/view-large/409613964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Группировка использует даты первого появления в архиве, не даты sequencing. Library strategy служит coarse application proxy. Metadata prevalence отражает deposition и scope query, не успех дизайнов. Read count может обозначать spot/pair unit, поэтому base_count/read_count не считается unqualified длиной одного mate.</a:t>
            </a:r>
          </a:p>
          <a:p xmlns:a="http://schemas.openxmlformats.org/drawingml/2006/main">
            <a:r>
              <a:t/>
            </a:r>
          </a:p>
          <a:p xmlns:a="http://schemas.openxmlformats.org/drawingml/2006/main">
            <a:r>
              <a:t>EN: Counts represent runs in the acquired query cohort. They do not measure independent studies, instrument sales or successful designs. An unsorted cap can distort platform and year frequencies; zero cohort counts are not full-archive absences. Missingness and count-unit limitations remain explicit in metadata_summary.json. See provenance for exact query and row cap.</a:t>
            </a:r>
          </a:p>
          <a:p xmlns:a="http://schemas.openxmlformats.org/drawingml/2006/main">
            <a:r>
              <a:t/>
            </a:r>
          </a:p>
          <a:p xmlns:a="http://schemas.openxmlformats.org/drawingml/2006/main">
            <a:r>
              <a:t>Sources:</a:t>
            </a:r>
          </a:p>
          <a:p xmlns:a="http://schemas.openxmlformats.org/drawingml/2006/main">
            <a:r>
              <a:t>Project outputs: C:\Users\админ\Documents\Codex\2026-10-06\the-sequencing-experiment-design-advisor-x20\outputs\sequencing-advisor\results\metadata_summary.json</a:t>
            </a:r>
          </a:p>
          <a:p xmlns:a="http://schemas.openxmlformats.org/drawingml/2006/main">
            <a:r>
              <a:t>https://ena-docs.readthedocs.io/en/latest/retrieval/programmatic-access/advanced-search.html</a:t>
            </a:r>
          </a:p>
          <a:p xmlns:a="http://schemas.openxmlformats.org/drawingml/2006/main">
            <a:r>
              <a:t>https://www.ncbi.nlm.nih.gov/sra/docs/sra-cloud-based-metadata-table/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Одно sampling решение для пары сохраняет paired structure. Minimap2 использует minimizers для уменьшения поиска, затем chaining и alignment extension. Preset sr подходит коротким DNA reads, map-ont принимает ONT error profile. Фиксированные параметры отделяют effect sampling от change aligner.</a:t>
            </a:r>
          </a:p>
          <a:p xmlns:a="http://schemas.openxmlformats.org/drawingml/2006/main">
            <a:r>
              <a:t/>
            </a:r>
          </a:p>
          <a:p xmlns:a="http://schemas.openxmlformats.org/drawingml/2006/main">
            <a:r>
              <a:t>EN: The executed minimap2 version/presets come from the provenance and runtime logs. Primary CIGAR M/= /X intervals define coverage. Deletions/skips, secondary and supplementary alignments do not contribute. MAPQ255 is unavailable. Paired overlaps count twice. QC-rejected molecules do not contribute.</a:t>
            </a:r>
          </a:p>
          <a:p xmlns:a="http://schemas.openxmlformats.org/drawingml/2006/main">
            <a:r>
              <a:t/>
            </a:r>
          </a:p>
          <a:p xmlns:a="http://schemas.openxmlformats.org/drawingml/2006/main">
            <a:r>
              <a:t>Sources:</a:t>
            </a:r>
          </a:p>
          <a:p xmlns:a="http://schemas.openxmlformats.org/drawingml/2006/main">
            <a:r>
              <a:t>Project outputs: summary.json and alignment logs</a:t>
            </a:r>
          </a:p>
          <a:p xmlns:a="http://schemas.openxmlformats.org/drawingml/2006/main">
            <a:r>
              <a:t>https://github.com/lh3/minimap2</a:t>
            </a:r>
          </a:p>
          <a:p xmlns:a="http://schemas.openxmlformats.org/drawingml/2006/main">
            <a:r>
              <a:t>https://samtools.github.io/hts-specs/SAMv1.pdf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Illumina mates фильтруются вместе, если один не проходит. Проверяются adapter prefix, Q20 tail, min50bp, meanQ20 и N≤2%. Adapter-prefix detector и simple tail trimming не заменяют полный adapter model fastp. ONT Q7 permissive threshold требует обоснования по реальным distributions, не универсально. Разница quality scores не доказывает platform accuracy из-за library/basecaller/calibration.</a:t>
            </a:r>
          </a:p>
          <a:p xmlns:a="http://schemas.openxmlformats.org/drawingml/2006/main">
            <a:r>
              <a:t/>
            </a:r>
          </a:p>
          <a:p xmlns:a="http://schemas.openxmlformats.org/drawingml/2006/main">
            <a:r>
              <a:t>EN: Reported QC belongs to the acquired input. Illumina filters include adapter-prefix detection, Q20 tail trimming, length≥50bp, meanQ≥20, and at most2%N. Expected errors average10^(-Q/10) across bases. The mean Phred score alone cannot give mean error probability. Duplicated sequence diagnostics do not separate biological duplicates from PCR duplicates. External raw SAM intervals can include audited trimmed tails.</a:t>
            </a:r>
          </a:p>
          <a:p xmlns:a="http://schemas.openxmlformats.org/drawingml/2006/main">
            <a:r>
              <a:t/>
            </a:r>
          </a:p>
          <a:p xmlns:a="http://schemas.openxmlformats.org/drawingml/2006/main">
            <a:r>
              <a:t>Sources:</a:t>
            </a:r>
          </a:p>
          <a:p xmlns:a="http://schemas.openxmlformats.org/drawingml/2006/main">
            <a:r>
              <a:t>Project outputs: C:\Users\админ\Documents\Codex\2026-10-06\the-sequencing-experiment-design-advisor-x20\outputs\sequencing-advisor\results\summary.json</a:t>
            </a:r>
          </a:p>
          <a:p xmlns:a="http://schemas.openxmlformats.org/drawingml/2006/main">
            <a:r>
              <a:t>https://samtools.github.io/hts-specs/SAMv1.pdf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Удаление других reads не меняет последовательность оставшегося. При независимом fixed-reference mapping ожидаемая доля mapped сохраняется. Меньшее n увеличивает sampling uncertainty. Это допустимый отрицательный результат для предположения brief, а не ошибка анализа.</a:t>
            </a:r>
          </a:p>
          <a:p xmlns:a="http://schemas.openxmlformats.org/drawingml/2006/main">
            <a:r>
              <a:t/>
            </a:r>
          </a:p>
          <a:p xmlns:a="http://schemas.openxmlformats.org/drawingml/2006/main">
            <a:r>
              <a:t>EN: Mapping rate and reference breadth are different outcomes. The mapping fraction counts mapped primary records. MAPQ filtering applies to coverage. Available primary MAPQ and NM-proxy means are measured at each depth from the fixed alignments. These are unweighted means across scored reads, then averages across seeds. MAPQ255 is unavailable. NM includes sample-reference differences and does not isolate sequencing errors. Illumina MiSeq mean MAPQ: lowest-depth mean 58.28; full-pool mean 58.26; across tested depths 58.26–58.33. Illumina MiSeq NM / aligned-query proxy: lowest-depth mean 1.0%; full-pool mean 1.0%; across tested depths 1.0%–1.0%. Oxford Nanopore GridION mean MAPQ: lowest-depth mean 59.77; full-pool mean 59.81; across tested depths 59.77–59.81. Oxford Nanopore GridION NM / aligned-query proxy: lowest-depth mean 0.6%; full-pool mean 0.6%; across tested depths 0.6%–0.6%.</a:t>
            </a:r>
          </a:p>
          <a:p xmlns:a="http://schemas.openxmlformats.org/drawingml/2006/main">
            <a:r>
              <a:t/>
            </a:r>
          </a:p>
          <a:p xmlns:a="http://schemas.openxmlformats.org/drawingml/2006/main">
            <a:r>
              <a:t>Sources:</a:t>
            </a:r>
          </a:p>
          <a:p xmlns:a="http://schemas.openxmlformats.org/drawingml/2006/main">
            <a:r>
              <a:t>Project outputs: C:\Users\админ\Documents\Codex\2026-10-06\the-sequencing-experiment-design-advisor-x20\outputs\sequencing-advisor\results\summary.json</a:t>
            </a:r>
          </a:p>
          <a:p xmlns:a="http://schemas.openxmlformats.org/drawingml/2006/main">
            <a:r>
              <a:t>Project outputs: C:\Users\админ\Documents\Codex\2026-10-06\the-sequencing-experiment-design-advisor-x20\outputs\sequencing-advisor\results\saturation.json</a:t>
            </a:r>
          </a:p>
          <a:p xmlns:a="http://schemas.openxmlformats.org/drawingml/2006/main">
            <a:r>
              <a:t>https://www.htslib.org/doc/samtools-coverage.html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Это результат cost model, не измеренный invoice. Общий пул и dedicated run имеют разные billable units. Препарат/QC/cloud coefficients являются editable assumptions. Цена ONT cell840USD подтверждается official US store, а независимые NUSeqFY26 service rates сравниваются при matching scope.</a:t>
            </a:r>
          </a:p>
          <a:p xmlns:a="http://schemas.openxmlformats.org/drawingml/2006/main">
            <a:r>
              <a:t/>
            </a:r>
          </a:p>
          <a:p xmlns:a="http://schemas.openxmlformats.org/drawingml/2006/main">
            <a:r>
              <a:t>EN: The displayed totals follow config/costs.json. Independent sequencing-service comparison covers sequencing plus instrument operation, with configuration and capacity caveats. Reproducing a vendor input is arithmetic consistency only. The ±30% range is a sensitivity scenario, not fitted confidence. Tax, extraction, shipping and institutional overhead are excluded.</a:t>
            </a:r>
          </a:p>
          <a:p xmlns:a="http://schemas.openxmlformats.org/drawingml/2006/main">
            <a:r>
              <a:t/>
            </a:r>
          </a:p>
          <a:p xmlns:a="http://schemas.openxmlformats.org/drawingml/2006/main">
            <a:r>
              <a:t>Sources:</a:t>
            </a:r>
          </a:p>
          <a:p xmlns:a="http://schemas.openxmlformats.org/drawingml/2006/main">
            <a:r>
              <a:t>Project model: config/costs.json</a:t>
            </a:r>
          </a:p>
          <a:p xmlns:a="http://schemas.openxmlformats.org/drawingml/2006/main">
            <a:r>
              <a:t>https://store.nanoporetech.com/us/flow-cells.html</a:t>
            </a:r>
          </a:p>
          <a:p xmlns:a="http://schemas.openxmlformats.org/drawingml/2006/main">
            <a:r>
              <a:t>https://www.cgm.northwestern.edu/cores/nuseq/pricing.html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Покажите bacterial-snv scenario. Для clonal haploid isolate f=1, не0.5. Выход содержит alternatives, breakdown, declared assumptions и analytic support probability. Provisional20× design floor не установлен breadth plateau experiment.</a:t>
            </a:r>
          </a:p>
          <a:p xmlns:a="http://schemas.openxmlformats.org/drawingml/2006/main">
            <a:r>
              <a:t/>
            </a:r>
          </a:p>
          <a:p xmlns:a="http://schemas.openxmlformats.org/drawingml/2006/main">
            <a:r>
              <a:t>EN: The scenario uses six bacterial samples,4.6Mb genome size and$1200 budget. The returned target combines an explicit provisional design floor with an analytical Poisson support requirement. P(K≥3) follows mean effective depth×allele fraction. Caller precision/recall and clinical LoD remain unvalidated.</a:t>
            </a:r>
          </a:p>
          <a:p xmlns:a="http://schemas.openxmlformats.org/drawingml/2006/main">
            <a:r>
              <a:t/>
            </a:r>
          </a:p>
          <a:p xmlns:a="http://schemas.openxmlformats.org/drawingml/2006/main">
            <a:r>
              <a:t>Sources:</a:t>
            </a:r>
          </a:p>
          <a:p xmlns:a="http://schemas.openxmlformats.org/drawingml/2006/main">
            <a:r>
              <a:t>Project model: advisor.py and config/scenarios.json</a:t>
            </a:r>
          </a:p>
          <a:p xmlns:a="http://schemas.openxmlformats.org/drawingml/2006/main">
            <a:r>
              <a:t>Project outputs: scenario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Назовите ровно то, что измерено. Literature-supported design recommendations и measurements не имеют одинаковой validation scope. Для расширения нужны matched samples, independent truth, endpoint-specific saturation и полное выполнение workflow.</a:t>
            </a:r>
          </a:p>
          <a:p xmlns:a="http://schemas.openxmlformats.org/drawingml/2006/main">
            <a:r>
              <a:t/>
            </a:r>
          </a:p>
          <a:p xmlns:a="http://schemas.openxmlformats.org/drawingml/2006/main">
            <a:r>
              <a:t>EN: The acquired prefixes can contain order bias. Sampling seeds are technical resampling. Current instrument envelopes differ from specific archived experiments. Keep partial tasks visible in RUBRIC_AUDIT.md instead of claiming universally validated detection accuracy or complete full-archive prevalence.</a:t>
            </a:r>
          </a:p>
          <a:p xmlns:a="http://schemas.openxmlformats.org/drawingml/2006/main">
            <a:r>
              <a:t/>
            </a:r>
          </a:p>
          <a:p xmlns:a="http://schemas.openxmlformats.org/drawingml/2006/main">
            <a:r>
              <a:t>Sources:</a:t>
            </a:r>
          </a:p>
          <a:p xmlns:a="http://schemas.openxmlformats.org/drawingml/2006/main">
            <a:r>
              <a:t>Project documentation: docs/SCIENTIFIC_SOURCES.md</a:t>
            </a:r>
          </a:p>
          <a:p xmlns:a="http://schemas.openxmlformats.org/drawingml/2006/main">
            <a:r>
              <a:t>Project documentation: docs/RUBRIC_AUDIT.md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 В конце покажите repository и README. Не называйте future extension завершённым. Каждая участница должна реально выполнить technical review, сделать содержательный commit и объяснять все компоненты. Откройте вопросы.</a:t>
            </a:r>
          </a:p>
          <a:p xmlns:a="http://schemas.openxmlformats.org/drawingml/2006/main">
            <a:r>
              <a:t/>
            </a:r>
          </a:p>
          <a:p xmlns:a="http://schemas.openxmlformats.org/drawingml/2006/main">
            <a:r>
              <a:t>EN: The course rubric totals60 points. Files do not guarantee a grade. Submission includes repository,8–12page report, reproducibility bundle, contribution statement and AI disclosure. Both students present and can answer any component. The repository owner must grant write access before upload by Gaukhar0606.</a:t>
            </a:r>
          </a:p>
          <a:p xmlns:a="http://schemas.openxmlformats.org/drawingml/2006/main">
            <a:r>
              <a:t/>
            </a:r>
          </a:p>
          <a:p xmlns:a="http://schemas.openxmlformats.org/drawingml/2006/main">
            <a:r>
              <a:t>Sources:</a:t>
            </a:r>
          </a:p>
          <a:p xmlns:a="http://schemas.openxmlformats.org/drawingml/2006/main">
            <a:r>
              <a:t>AITU Bioinformatics Course Project Handbook, submission and rubric</a:t>
            </a:r>
          </a:p>
          <a:p xmlns:a="http://schemas.openxmlformats.org/drawingml/2006/main">
            <a:r>
              <a:t>https://github.com/dilyarakurmangazykyzy-creator/The-Sequencing-Experiment-Design-Advisor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80964a8154c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3c52bf839a4f88" /><Relationship Type="http://schemas.openxmlformats.org/officeDocument/2006/relationships/slideLayout" Target="/ppt/slideLayouts/slideLayout1.xml" Id="R355966e3318941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5966e3318941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9550db11ca4a86" /><Relationship Type="http://schemas.openxmlformats.org/officeDocument/2006/relationships/notesSlide" Target="/ppt/notesSlides/notesSlide1.xml" Id="Rac5c1b77e5a644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61147d761c4c15" /><Relationship Type="http://schemas.openxmlformats.org/officeDocument/2006/relationships/chart" Target="/ppt/slides/charts/chart1.xml" Id="R5775726ffd5743a3" /><Relationship Type="http://schemas.openxmlformats.org/officeDocument/2006/relationships/notesSlide" Target="/ppt/notesSlides/notesSlide2.xml" Id="Rbe8d4a1cd81340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7a1677f3f54f5a" /><Relationship Type="http://schemas.openxmlformats.org/officeDocument/2006/relationships/notesSlide" Target="/ppt/notesSlides/notesSlide3.xml" Id="R172ace76babd4c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b48adf20a44546" /><Relationship Type="http://schemas.openxmlformats.org/officeDocument/2006/relationships/notesSlide" Target="/ppt/notesSlides/notesSlide4.xml" Id="R3794f5d18c9244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5228bbb2424b15" /><Relationship Type="http://schemas.openxmlformats.org/officeDocument/2006/relationships/chart" Target="/ppt/slides/charts/chart2.xml" Id="Ra3a84a6b69f6486f" /><Relationship Type="http://schemas.openxmlformats.org/officeDocument/2006/relationships/notesSlide" Target="/ppt/notesSlides/notesSlide5.xml" Id="Rbca2967e76084c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b099e98c214137" /><Relationship Type="http://schemas.openxmlformats.org/officeDocument/2006/relationships/notesSlide" Target="/ppt/notesSlides/notesSlide6.xml" Id="Rb0c8a52b5f9d4a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aa9d513c994c5f" /><Relationship Type="http://schemas.openxmlformats.org/officeDocument/2006/relationships/notesSlide" Target="/ppt/notesSlides/notesSlide7.xml" Id="Rfc1070b520fe49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81673ce6614c10" /><Relationship Type="http://schemas.openxmlformats.org/officeDocument/2006/relationships/chart" Target="/ppt/slides/charts/chart3.xml" Id="R0c85c296dfa24628" /><Relationship Type="http://schemas.openxmlformats.org/officeDocument/2006/relationships/notesSlide" Target="/ppt/notesSlides/notesSlide8.xml" Id="R38d5d25af51e4d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d4df1eef7241d1" /><Relationship Type="http://schemas.openxmlformats.org/officeDocument/2006/relationships/notesSlide" Target="/ppt/notesSlides/notesSlide9.xml" Id="Rb29b0666af4745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52cfaecb5941f2" /><Relationship Type="http://schemas.openxmlformats.org/officeDocument/2006/relationships/notesSlide" Target="/ppt/notesSlides/notesSlide10.xml" Id="R92790a3b932f47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e85cd25d1d4e6c" /><Relationship Type="http://schemas.openxmlformats.org/officeDocument/2006/relationships/notesSlide" Target="/ppt/notesSlides/notesSlide11.xml" Id="Rb15fd4bc6bc145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d2ba9a55674e20" /><Relationship Type="http://schemas.openxmlformats.org/officeDocument/2006/relationships/notesSlide" Target="/ppt/notesSlides/notesSlide12.xml" Id="R7166f8ec34444a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Illumina MiSeq</c:v>
          </c:tx>
          <c:spPr>
            <a:ln xmlns:a="http://schemas.openxmlformats.org/drawingml/2006/main" w="28575">
              <a:solidFill>
                <a:srgbClr val="047F83"/>
              </a:solidFill>
              <a:prstDash val="solid"/>
            </a:ln>
          </c:spPr>
          <c:marker>
            <c:symbol val="circle"/>
            <c:size val="6"/>
            <c:spPr>
              <a:solidFill xmlns:a="http://schemas.openxmlformats.org/drawingml/2006/main">
                <a:srgbClr val="047F83"/>
              </a:solidFill>
            </c:spPr>
          </c:marker>
          <c:xVal>
            <c:numRef>
              <c:f>'Chart Data'!$A$2:$A$10</c:f>
              <c:numCache>
                <c:formatCode>0.0</c:formatCode>
                <c:ptCount val="9"/>
                <c:pt idx="0">
                  <c:v>1.008381</c:v>
                </c:pt>
                <c:pt idx="1">
                  <c:v>2.016126</c:v>
                </c:pt>
                <c:pt idx="2">
                  <c:v>4.024283</c:v>
                </c:pt>
                <c:pt idx="3">
                  <c:v>8.061561</c:v>
                </c:pt>
                <c:pt idx="4">
                  <c:v>14.121382</c:v>
                </c:pt>
                <c:pt idx="5">
                  <c:v>20.180122</c:v>
                </c:pt>
                <c:pt idx="6">
                  <c:v>28.253887</c:v>
                </c:pt>
                <c:pt idx="7">
                  <c:v>34.307166</c:v>
                </c:pt>
                <c:pt idx="8">
                  <c:v>40.345999</c:v>
                </c:pt>
              </c:numCache>
            </c:numRef>
          </c:xVal>
          <c:yVal>
            <c:numRef>
              <c:f>'Chart Data'!$B$2:$B$10</c:f>
              <c:numCache>
                <c:formatCode>0.0%</c:formatCode>
                <c:ptCount val="9"/>
                <c:pt idx="0">
                  <c:v>0.54771139</c:v>
                </c:pt>
                <c:pt idx="1">
                  <c:v>0.78817771</c:v>
                </c:pt>
                <c:pt idx="2">
                  <c:v>0.94543997</c:v>
                </c:pt>
                <c:pt idx="3">
                  <c:v>0.98582969</c:v>
                </c:pt>
                <c:pt idx="4">
                  <c:v>0.9894684</c:v>
                </c:pt>
                <c:pt idx="5">
                  <c:v>0.99019279</c:v>
                </c:pt>
                <c:pt idx="6">
                  <c:v>0.99081606</c:v>
                </c:pt>
                <c:pt idx="7">
                  <c:v>0.99111839</c:v>
                </c:pt>
                <c:pt idx="8">
                  <c:v>0.99137872</c:v>
                </c:pt>
              </c:numCache>
            </c:numRef>
          </c:yVal>
        </c:ser>
        <c:ser>
          <c:idx val="1"/>
          <c:order val="1"/>
          <c:tx>
            <c:v>Oxford Nanopore GridION</c:v>
          </c:tx>
          <c:spPr>
            <a:ln xmlns:a="http://schemas.openxmlformats.org/drawingml/2006/main" w="28575">
              <a:solidFill>
                <a:srgbClr val="436EC4"/>
              </a:solidFill>
              <a:prstDash val="solid"/>
            </a:ln>
          </c:spPr>
          <c:marker>
            <c:symbol val="circle"/>
            <c:size val="6"/>
            <c:spPr>
              <a:solidFill xmlns:a="http://schemas.openxmlformats.org/drawingml/2006/main">
                <a:srgbClr val="436EC4"/>
              </a:solidFill>
            </c:spPr>
          </c:marker>
          <c:xVal>
            <c:numRef>
              <c:f>'Chart Data'!$C$2:$C$10</c:f>
              <c:numCache>
                <c:formatCode>0.0</c:formatCode>
                <c:ptCount val="9"/>
                <c:pt idx="0">
                  <c:v>1.100668</c:v>
                </c:pt>
                <c:pt idx="1">
                  <c:v>2.233213</c:v>
                </c:pt>
                <c:pt idx="2">
                  <c:v>4.48672</c:v>
                </c:pt>
                <c:pt idx="3">
                  <c:v>9.054029</c:v>
                </c:pt>
                <c:pt idx="4">
                  <c:v>15.81028</c:v>
                </c:pt>
                <c:pt idx="5">
                  <c:v>22.65855</c:v>
                </c:pt>
                <c:pt idx="6">
                  <c:v>31.556757</c:v>
                </c:pt>
                <c:pt idx="7">
                  <c:v>38.309895</c:v>
                </c:pt>
                <c:pt idx="8">
                  <c:v>45.046955</c:v>
                </c:pt>
              </c:numCache>
            </c:numRef>
          </c:xVal>
          <c:yVal>
            <c:numRef>
              <c:f>'Chart Data'!$D$2:$D$10</c:f>
              <c:numCache>
                <c:formatCode>0.0%</c:formatCode>
                <c:ptCount val="9"/>
                <c:pt idx="0">
                  <c:v>0.65160321</c:v>
                </c:pt>
                <c:pt idx="1">
                  <c:v>0.86076258</c:v>
                </c:pt>
                <c:pt idx="2">
                  <c:v>0.96754654</c:v>
                </c:pt>
                <c:pt idx="3">
                  <c:v>0.994243</c:v>
                </c:pt>
                <c:pt idx="4">
                  <c:v>0.99819174</c:v>
                </c:pt>
                <c:pt idx="5">
                  <c:v>0.99884474</c:v>
                </c:pt>
                <c:pt idx="6">
                  <c:v>0.99912086</c:v>
                </c:pt>
                <c:pt idx="7">
                  <c:v>0.99920739</c:v>
                </c:pt>
                <c:pt idx="8">
                  <c:v>0.99937824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AF0"/>
              </a:solidFill>
            </a:ln>
          </c:spPr>
        </c:majorGridlines>
        <c:title>
          <c:tx>
            <c:rich>
              <a:bodyPr xmlns:a="http://schemas.openxmlformats.org/drawingml/2006/main"/>
              <a:lstStyle xmlns:a="http://schemas.openxmlformats.org/drawingml/2006/main"/>
              <a:p xmlns:a="http://schemas.openxmlformats.org/drawingml/2006/main">
                <a:r>
                  <a:rPr sz="1800">
                    <a:solidFill>
                      <a:srgbClr val="162C3F"/>
                    </a:solidFill>
                    <a:latin typeface="Arial"/>
                    <a:ea typeface="Arial"/>
                    <a:cs typeface="Arial"/>
                  </a:rPr>
                  <a:t>Reference breadth at ≥1×</a:t>
                </a:r>
              </a:p>
            </c:rich>
          </c:tx>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title>
        <c:numFmt formatCode="0%"/>
        <c:majorTickMark val="none"/>
        <c:minorTickMark val="none"/>
        <c:spPr>
          <a:ln xmlns:a="http://schemas.openxmlformats.org/drawingml/2006/main" w="9525">
            <a:solidFill>
              <a:srgbClr val="879AA8"/>
            </a:solidFill>
          </a:ln>
        </c:spPr>
        <c:txPr>
          <a:bodyPr xmlns:a="http://schemas.openxmlformats.org/drawingml/2006/main" anchorCtr="1"/>
          <a:lstStyle xmlns:a="http://schemas.openxmlformats.org/drawingml/2006/main"/>
          <a:p xmlns:a="http://schemas.openxmlformats.org/drawingml/2006/main">
            <a:pPr>
              <a:defRPr sz="1800">
                <a:solidFill>
                  <a:srgbClr val="536877"/>
                </a:solidFill>
                <a:latin typeface="Arial"/>
                <a:ea typeface="Arial"/>
                <a:cs typeface="Arial"/>
              </a:defRPr>
            </a:pPr>
          </a:p>
        </c:txPr>
        <c:crossAx val="48650112"/>
      </c:valAx>
      <c:valAx>
        <c:axId val="48650112"/>
        <c:scaling>
          <c:orientation val="minMax"/>
          <c:min val="0"/>
        </c:scaling>
        <c:delete val="0"/>
        <c:axPos val="b"/>
        <c:title>
          <c:tx>
            <c:rich>
              <a:bodyPr xmlns:a="http://schemas.openxmlformats.org/drawingml/2006/main"/>
              <a:lstStyle xmlns:a="http://schemas.openxmlformats.org/drawingml/2006/main"/>
              <a:p xmlns:a="http://schemas.openxmlformats.org/drawingml/2006/main">
                <a:r>
                  <a:rPr sz="1800">
                    <a:solidFill>
                      <a:srgbClr val="162C3F"/>
                    </a:solidFill>
                    <a:latin typeface="Arial"/>
                    <a:ea typeface="Arial"/>
                    <a:cs typeface="Arial"/>
                  </a:rPr>
                  <a:t>Accepted-molecule nominal depth (×)</a:t>
                </a:r>
              </a:p>
            </c:rich>
          </c:tx>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title>
        <c:numFmt formatCode="0.0"/>
        <c:majorTickMark val="none"/>
        <c:minorTickMark val="none"/>
        <c:spPr>
          <a:ln xmlns:a="http://schemas.openxmlformats.org/drawingml/2006/main" w="9525">
            <a:solidFill>
              <a:srgbClr val="879AA8"/>
            </a:solidFill>
          </a:ln>
        </c:spPr>
        <c:txPr>
          <a:bodyPr xmlns:a="http://schemas.openxmlformats.org/drawingml/2006/main" anchorCtr="1"/>
          <a:lstStyle xmlns:a="http://schemas.openxmlformats.org/drawingml/2006/main"/>
          <a:p xmlns:a="http://schemas.openxmlformats.org/drawingml/2006/main">
            <a:pPr>
              <a:defRPr sz="1800">
                <a:solidFill>
                  <a:srgbClr val="536877"/>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Illumina</c:v>
          </c:tx>
          <c:spPr>
            <a:solidFill xmlns:a="http://schemas.openxmlformats.org/drawingml/2006/main">
              <a:srgbClr val="047F83"/>
            </a:solidFill>
          </c:spP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104432</c:v>
                </c:pt>
                <c:pt idx="1">
                  <c:v>334224</c:v>
                </c:pt>
                <c:pt idx="2">
                  <c:v>249858</c:v>
                </c:pt>
                <c:pt idx="3">
                  <c:v>222245</c:v>
                </c:pt>
              </c:numCache>
            </c:numRef>
          </c:val>
        </c:ser>
        <c:ser>
          <c:idx val="1"/>
          <c:order val="1"/>
          <c:tx>
            <c:v>Nanopore</c:v>
          </c:tx>
          <c:spPr>
            <a:solidFill xmlns:a="http://schemas.openxmlformats.org/drawingml/2006/main">
              <a:srgbClr val="436EC4"/>
            </a:solidFill>
          </c:spP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1705</c:v>
                </c:pt>
                <c:pt idx="1">
                  <c:v>3655</c:v>
                </c:pt>
                <c:pt idx="2">
                  <c:v>32546</c:v>
                </c:pt>
                <c:pt idx="3">
                  <c:v>5780</c:v>
                </c:pt>
              </c:numCache>
            </c:numRef>
          </c:val>
        </c:ser>
        <c:ser>
          <c:idx val="2"/>
          <c:order val="2"/>
          <c:tx>
            <c:v>PacBio</c:v>
          </c:tx>
          <c:spPr>
            <a:solidFill xmlns:a="http://schemas.openxmlformats.org/drawingml/2006/main">
              <a:srgbClr val="C46A33"/>
            </a:solidFill>
          </c:spP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1364</c:v>
                </c:pt>
                <c:pt idx="1">
                  <c:v>6576</c:v>
                </c:pt>
                <c:pt idx="2">
                  <c:v>3436</c:v>
                </c:pt>
                <c:pt idx="3">
                  <c:v>4857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0"/>
        <c:overlap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solidFill>
                      <a:srgbClr val="162C3F"/>
                    </a:solidFill>
                    <a:latin typeface="Arial"/>
                    <a:ea typeface="Arial"/>
                    <a:cs typeface="Arial"/>
                  </a:rPr>
                  <a:t>First-public / release year</a:t>
                </a:r>
              </a:p>
            </c:rich>
          </c:tx>
          <c:overlay val="0"/>
          <c:txPr>
            <a:bodyPr xmlns:a="http://schemas.openxmlformats.org/drawingml/2006/main" anchorCtr="1"/>
            <a:lstStyle xmlns:a="http://schemas.openxmlformats.org/drawingml/2006/main"/>
            <a:p xmlns:a="http://schemas.openxmlformats.org/drawingml/2006/main">
              <a:pPr>
                <a:defRPr sz="1725">
                  <a:solidFill>
                    <a:srgbClr val="162C3F"/>
                  </a:solidFill>
                  <a:latin typeface="Arial"/>
                  <a:ea typeface="Arial"/>
                  <a:cs typeface="Arial"/>
                </a:defRPr>
              </a:pPr>
            </a:p>
          </c:txPr>
        </c:title>
        <c:numFmt formatCode="General"/>
        <c:majorTickMark val="none"/>
        <c:minorTickMark val="none"/>
        <c:spPr>
          <a:ln xmlns:a="http://schemas.openxmlformats.org/drawingml/2006/main" w="9525">
            <a:solidFill>
              <a:srgbClr val="879AA8"/>
            </a:solidFill>
          </a:ln>
        </c:spPr>
        <c:txPr>
          <a:bodyPr xmlns:a="http://schemas.openxmlformats.org/drawingml/2006/main" anchorCtr="1"/>
          <a:lstStyle xmlns:a="http://schemas.openxmlformats.org/drawingml/2006/main"/>
          <a:p xmlns:a="http://schemas.openxmlformats.org/drawingml/2006/main">
            <a:pPr>
              <a:defRPr sz="1575">
                <a:solidFill>
                  <a:srgbClr val="536877"/>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4EAF0"/>
              </a:solidFill>
            </a:ln>
          </c:spPr>
        </c:majorGridlines>
        <c:title>
          <c:tx>
            <c:rich>
              <a:bodyPr xmlns:a="http://schemas.openxmlformats.org/drawingml/2006/main"/>
              <a:lstStyle xmlns:a="http://schemas.openxmlformats.org/drawingml/2006/main"/>
              <a:p xmlns:a="http://schemas.openxmlformats.org/drawingml/2006/main">
                <a:r>
                  <a:rPr sz="1725">
                    <a:solidFill>
                      <a:srgbClr val="162C3F"/>
                    </a:solidFill>
                    <a:latin typeface="Arial"/>
                    <a:ea typeface="Arial"/>
                    <a:cs typeface="Arial"/>
                  </a:rPr>
                  <a:t>Run records</a:t>
                </a:r>
              </a:p>
            </c:rich>
          </c:tx>
          <c:overlay val="0"/>
          <c:txPr>
            <a:bodyPr xmlns:a="http://schemas.openxmlformats.org/drawingml/2006/main" anchorCtr="1"/>
            <a:lstStyle xmlns:a="http://schemas.openxmlformats.org/drawingml/2006/main"/>
            <a:p xmlns:a="http://schemas.openxmlformats.org/drawingml/2006/main">
              <a:pPr>
                <a:defRPr sz="1725">
                  <a:solidFill>
                    <a:srgbClr val="162C3F"/>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8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2C3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Illumina MiSeq</c:v>
          </c:tx>
          <c:spPr>
            <a:ln xmlns:a="http://schemas.openxmlformats.org/drawingml/2006/main" w="28575">
              <a:solidFill>
                <a:srgbClr val="047F83"/>
              </a:solidFill>
              <a:prstDash val="solid"/>
            </a:ln>
          </c:spPr>
          <c:marker>
            <c:symbol val="circle"/>
            <c:size val="6"/>
            <c:spPr>
              <a:solidFill xmlns:a="http://schemas.openxmlformats.org/drawingml/2006/main">
                <a:srgbClr val="047F83"/>
              </a:solidFill>
            </c:spPr>
          </c:marker>
          <c:xVal>
            <c:numRef>
              <c:f>'Chart Data'!$A$2:$A$10</c:f>
              <c:numCache>
                <c:formatCode>0.0</c:formatCode>
                <c:ptCount val="9"/>
                <c:pt idx="0">
                  <c:v>1.008381</c:v>
                </c:pt>
                <c:pt idx="1">
                  <c:v>2.016126</c:v>
                </c:pt>
                <c:pt idx="2">
                  <c:v>4.024283</c:v>
                </c:pt>
                <c:pt idx="3">
                  <c:v>8.061561</c:v>
                </c:pt>
                <c:pt idx="4">
                  <c:v>14.121382</c:v>
                </c:pt>
                <c:pt idx="5">
                  <c:v>20.180122</c:v>
                </c:pt>
                <c:pt idx="6">
                  <c:v>28.253887</c:v>
                </c:pt>
                <c:pt idx="7">
                  <c:v>34.307166</c:v>
                </c:pt>
                <c:pt idx="8">
                  <c:v>40.345999</c:v>
                </c:pt>
              </c:numCache>
            </c:numRef>
          </c:xVal>
          <c:yVal>
            <c:numRef>
              <c:f>'Chart Data'!$B$2:$B$10</c:f>
              <c:numCache>
                <c:formatCode>0.0%</c:formatCode>
                <c:ptCount val="9"/>
                <c:pt idx="0">
                  <c:v>0.99622366</c:v>
                </c:pt>
                <c:pt idx="1">
                  <c:v>0.99607231</c:v>
                </c:pt>
                <c:pt idx="2">
                  <c:v>0.99599615</c:v>
                </c:pt>
                <c:pt idx="3">
                  <c:v>0.99605948</c:v>
                </c:pt>
                <c:pt idx="4">
                  <c:v>0.99607536</c:v>
                </c:pt>
                <c:pt idx="5">
                  <c:v>0.99603304</c:v>
                </c:pt>
                <c:pt idx="6">
                  <c:v>0.99605304</c:v>
                </c:pt>
                <c:pt idx="7">
                  <c:v>0.99604153</c:v>
                </c:pt>
                <c:pt idx="8">
                  <c:v>0.99602018</c:v>
                </c:pt>
              </c:numCache>
            </c:numRef>
          </c:yVal>
        </c:ser>
        <c:ser>
          <c:idx val="1"/>
          <c:order val="1"/>
          <c:tx>
            <c:v>Oxford Nanopore GridION</c:v>
          </c:tx>
          <c:spPr>
            <a:ln xmlns:a="http://schemas.openxmlformats.org/drawingml/2006/main" w="28575">
              <a:solidFill>
                <a:srgbClr val="436EC4"/>
              </a:solidFill>
              <a:prstDash val="solid"/>
            </a:ln>
          </c:spPr>
          <c:marker>
            <c:symbol val="circle"/>
            <c:size val="6"/>
            <c:spPr>
              <a:solidFill xmlns:a="http://schemas.openxmlformats.org/drawingml/2006/main">
                <a:srgbClr val="436EC4"/>
              </a:solidFill>
            </c:spPr>
          </c:marker>
          <c:xVal>
            <c:numRef>
              <c:f>'Chart Data'!$C$2:$C$10</c:f>
              <c:numCache>
                <c:formatCode>0.0</c:formatCode>
                <c:ptCount val="9"/>
                <c:pt idx="0">
                  <c:v>1.100668</c:v>
                </c:pt>
                <c:pt idx="1">
                  <c:v>2.233213</c:v>
                </c:pt>
                <c:pt idx="2">
                  <c:v>4.48672</c:v>
                </c:pt>
                <c:pt idx="3">
                  <c:v>9.054029</c:v>
                </c:pt>
                <c:pt idx="4">
                  <c:v>15.81028</c:v>
                </c:pt>
                <c:pt idx="5">
                  <c:v>22.65855</c:v>
                </c:pt>
                <c:pt idx="6">
                  <c:v>31.556757</c:v>
                </c:pt>
                <c:pt idx="7">
                  <c:v>38.309895</c:v>
                </c:pt>
                <c:pt idx="8">
                  <c:v>45.046955</c:v>
                </c:pt>
              </c:numCache>
            </c:numRef>
          </c:xVal>
          <c:yVal>
            <c:numRef>
              <c:f>'Chart Data'!$D$2:$D$10</c:f>
              <c:numCache>
                <c:formatCode>0.0%</c:formatCode>
                <c:ptCount val="9"/>
                <c:pt idx="0">
                  <c:v>1</c:v>
                </c:pt>
                <c:pt idx="1">
                  <c:v>1</c:v>
                </c:pt>
                <c:pt idx="2">
                  <c:v>0.9996617</c:v>
                </c:pt>
                <c:pt idx="3">
                  <c:v>0.99983397</c:v>
                </c:pt>
                <c:pt idx="4">
                  <c:v>0.99980999</c:v>
                </c:pt>
                <c:pt idx="5">
                  <c:v>0.99981425</c:v>
                </c:pt>
                <c:pt idx="6">
                  <c:v>0.99981982</c:v>
                </c:pt>
                <c:pt idx="7">
                  <c:v>0.99982048</c:v>
                </c:pt>
                <c:pt idx="8">
                  <c:v>0.99982063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AF0"/>
              </a:solidFill>
            </a:ln>
          </c:spPr>
        </c:majorGridlines>
        <c:title>
          <c:tx>
            <c:rich>
              <a:bodyPr xmlns:a="http://schemas.openxmlformats.org/drawingml/2006/main"/>
              <a:lstStyle xmlns:a="http://schemas.openxmlformats.org/drawingml/2006/main"/>
              <a:p xmlns:a="http://schemas.openxmlformats.org/drawingml/2006/main">
                <a:r>
                  <a:rPr sz="1800">
                    <a:solidFill>
                      <a:srgbClr val="162C3F"/>
                    </a:solidFill>
                    <a:latin typeface="Arial"/>
                    <a:ea typeface="Arial"/>
                    <a:cs typeface="Arial"/>
                  </a:rPr>
                  <a:t>Mapped primary reads</a:t>
                </a:r>
              </a:p>
            </c:rich>
          </c:tx>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title>
        <c:numFmt formatCode="0%"/>
        <c:majorTickMark val="none"/>
        <c:minorTickMark val="none"/>
        <c:spPr>
          <a:ln xmlns:a="http://schemas.openxmlformats.org/drawingml/2006/main" w="9525">
            <a:solidFill>
              <a:srgbClr val="879AA8"/>
            </a:solidFill>
          </a:ln>
        </c:spPr>
        <c:txPr>
          <a:bodyPr xmlns:a="http://schemas.openxmlformats.org/drawingml/2006/main" anchorCtr="1"/>
          <a:lstStyle xmlns:a="http://schemas.openxmlformats.org/drawingml/2006/main"/>
          <a:p xmlns:a="http://schemas.openxmlformats.org/drawingml/2006/main">
            <a:pPr>
              <a:defRPr sz="1800">
                <a:solidFill>
                  <a:srgbClr val="536877"/>
                </a:solidFill>
                <a:latin typeface="Arial"/>
                <a:ea typeface="Arial"/>
                <a:cs typeface="Arial"/>
              </a:defRPr>
            </a:pPr>
          </a:p>
        </c:txPr>
        <c:crossAx val="48650112"/>
      </c:valAx>
      <c:valAx>
        <c:axId val="48650112"/>
        <c:scaling>
          <c:orientation val="minMax"/>
          <c:min val="0"/>
        </c:scaling>
        <c:delete val="0"/>
        <c:axPos val="b"/>
        <c:title>
          <c:tx>
            <c:rich>
              <a:bodyPr xmlns:a="http://schemas.openxmlformats.org/drawingml/2006/main"/>
              <a:lstStyle xmlns:a="http://schemas.openxmlformats.org/drawingml/2006/main"/>
              <a:p xmlns:a="http://schemas.openxmlformats.org/drawingml/2006/main">
                <a:r>
                  <a:rPr sz="1800">
                    <a:solidFill>
                      <a:srgbClr val="162C3F"/>
                    </a:solidFill>
                    <a:latin typeface="Arial"/>
                    <a:ea typeface="Arial"/>
                    <a:cs typeface="Arial"/>
                  </a:rPr>
                  <a:t>Accepted-molecule nominal depth (×)</a:t>
                </a:r>
              </a:p>
            </c:rich>
          </c:tx>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title>
        <c:numFmt formatCode="0.0"/>
        <c:majorTickMark val="none"/>
        <c:minorTickMark val="none"/>
        <c:spPr>
          <a:ln xmlns:a="http://schemas.openxmlformats.org/drawingml/2006/main" w="9525">
            <a:solidFill>
              <a:srgbClr val="879AA8"/>
            </a:solidFill>
          </a:ln>
        </c:spPr>
        <c:txPr>
          <a:bodyPr xmlns:a="http://schemas.openxmlformats.org/drawingml/2006/main" anchorCtr="1"/>
          <a:lstStyle xmlns:a="http://schemas.openxmlformats.org/drawingml/2006/main"/>
          <a:p xmlns:a="http://schemas.openxmlformats.org/drawingml/2006/main">
            <a:pPr>
              <a:defRPr sz="1800">
                <a:solidFill>
                  <a:srgbClr val="536877"/>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62C3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C3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C38916-1AD7-43BF-A554-569044781426}"/>
              </a:ext>
            </a:extLst>
          </p:cNvPr>
          <p:cNvSpPr>
            <a:spLocks xmlns:a="http://schemas.openxmlformats.org/drawingml/2006/main" noGrp="1"/>
          </p:cNvSpPr>
          <p:nvPr/>
        </p:nvSpPr>
        <p:spPr>
          <a:xfrm xmlns:a="http://schemas.openxmlformats.org/drawingml/2006/main">
            <a:off x="609600" y="11620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The Sequencing Experiment</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Design Advisor</a:t>
            </a:r>
          </a:p>
        </p:txBody>
      </p:sp>
      <p:sp>
        <p:nvSpPr>
          <p:cNvPr id="2" name="">
            <a:extLst xmlns:a="http://schemas.openxmlformats.org/drawingml/2006/main">
              <a:ext uri="{FF2B5EF4-FFF2-40B4-BE49-F238E27FC236}">
                <a16:creationId xmlns:a16="http://schemas.microsoft.com/office/drawing/2014/main" id="{DFDB4309-E477-48A1-85B0-01E474B58DD6}"/>
              </a:ext>
            </a:extLst>
          </p:cNvPr>
          <p:cNvSpPr>
            <a:spLocks xmlns:a="http://schemas.openxmlformats.org/drawingml/2006/main" noGrp="1"/>
          </p:cNvSpPr>
          <p:nvPr/>
        </p:nvSpPr>
        <p:spPr>
          <a:xfrm xmlns:a="http://schemas.openxmlformats.org/drawingml/2006/main">
            <a:off x="647700" y="356235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C0E5E5"/>
                </a:solidFill>
                <a:latin typeface="Arial"/>
                <a:ea typeface="Arial"/>
                <a:cs typeface="Arial"/>
              </a:defRPr>
            </a:pPr>
            <a:r>
              <a:rPr sz="2250" b="0">
                <a:solidFill>
                  <a:srgbClr val="C0E5E5"/>
                </a:solidFill>
                <a:latin typeface="Arial"/>
                <a:ea typeface="Arial"/>
                <a:cs typeface="Arial"/>
              </a:rPr>
              <a:t>Real archived reads and explicit planning assumptions</a:t>
            </a:r>
          </a:p>
        </p:txBody>
      </p:sp>
      <p:sp>
        <p:nvSpPr>
          <p:cNvPr id="3" name="">
            <a:extLst xmlns:a="http://schemas.openxmlformats.org/drawingml/2006/main">
              <a:ext uri="{FF2B5EF4-FFF2-40B4-BE49-F238E27FC236}">
                <a16:creationId xmlns:a16="http://schemas.microsoft.com/office/drawing/2014/main" id="{1963B77A-882E-428D-89B7-FA3C1FDFF28E}"/>
              </a:ext>
            </a:extLst>
          </p:cNvPr>
          <p:cNvSpPr>
            <a:spLocks xmlns:a="http://schemas.openxmlformats.org/drawingml/2006/main" noGrp="1"/>
          </p:cNvSpPr>
          <p:nvPr/>
        </p:nvSpPr>
        <p:spPr>
          <a:xfrm xmlns:a="http://schemas.openxmlformats.org/drawingml/2006/main">
            <a:off x="647700" y="4857750"/>
            <a:ext cx="895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Zhaulybaeva Gaukhar</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Kurmangazykyzy Dilyara</a:t>
            </a:r>
          </a:p>
        </p:txBody>
      </p:sp>
      <p:sp>
        <p:nvSpPr>
          <p:cNvPr id="4" name="">
            <a:extLst xmlns:a="http://schemas.openxmlformats.org/drawingml/2006/main">
              <a:ext uri="{FF2B5EF4-FFF2-40B4-BE49-F238E27FC236}">
                <a16:creationId xmlns:a16="http://schemas.microsoft.com/office/drawing/2014/main" id="{60D1887A-B55C-4E60-9440-284D2AC68CB6}"/>
              </a:ext>
            </a:extLst>
          </p:cNvPr>
          <p:cNvSpPr>
            <a:spLocks xmlns:a="http://schemas.openxmlformats.org/drawingml/2006/main" noGrp="1"/>
          </p:cNvSpPr>
          <p:nvPr/>
        </p:nvSpPr>
        <p:spPr>
          <a:xfrm xmlns:a="http://schemas.openxmlformats.org/drawingml/2006/main">
            <a:off x="9144000" y="53530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C3D0DA"/>
                </a:solidFill>
                <a:latin typeface="Arial"/>
                <a:ea typeface="Arial"/>
                <a:cs typeface="Arial"/>
              </a:defRPr>
            </a:pPr>
            <a:r>
              <a:rPr sz="1575" b="0">
                <a:solidFill>
                  <a:srgbClr val="C3D0DA"/>
                </a:solidFill>
                <a:latin typeface="Arial"/>
                <a:ea typeface="Arial"/>
                <a:cs typeface="Arial"/>
              </a:rPr>
              <a:t>Astana IT University</a:t>
            </a:r>
          </a:p>
          <a:p xmlns:a="http://schemas.openxmlformats.org/drawingml/2006/main">
            <a:pPr>
              <a:defRPr sz="1575" b="0">
                <a:solidFill>
                  <a:srgbClr val="C3D0DA"/>
                </a:solidFill>
                <a:latin typeface="Arial"/>
                <a:ea typeface="Arial"/>
                <a:cs typeface="Arial"/>
              </a:defRPr>
            </a:pPr>
            <a:r>
              <a:rPr sz="1575" b="0">
                <a:solidFill>
                  <a:srgbClr val="C3D0DA"/>
                </a:solidFill>
                <a:latin typeface="Arial"/>
                <a:ea typeface="Arial"/>
                <a:cs typeface="Arial"/>
              </a:rPr>
              <a:t>Introduction to Bioinformatics</a:t>
            </a:r>
          </a:p>
        </p:txBody>
      </p:sp>
    </p:spTree>
    <p:extLst>
      <p:ext uri="{BB962C8B-B14F-4D97-AF65-F5344CB8AC3E}">
        <p14:creationId xmlns:p14="http://schemas.microsoft.com/office/powerpoint/2010/main" val="1436107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D42846-0A97-41E8-AC0E-FE6D805A36E1}"/>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Reference breadth increases with depth</a:t>
            </a:r>
          </a:p>
        </p:txBody>
      </p:sp>
      <p:sp>
        <p:nvSpPr>
          <p:cNvPr id="2" name="">
            <a:extLst xmlns:a="http://schemas.openxmlformats.org/drawingml/2006/main">
              <a:ext uri="{FF2B5EF4-FFF2-40B4-BE49-F238E27FC236}">
                <a16:creationId xmlns:a16="http://schemas.microsoft.com/office/drawing/2014/main" id="{23AED227-0BC9-4966-AD7E-57140E08CC2D}"/>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7897C314-080A-4FF6-A84B-DBA65785824C}"/>
              </a:ext>
            </a:extLst>
          </p:cNvPr>
          <p:cNvSpPr>
            <a:spLocks xmlns:a="http://schemas.openxmlformats.org/drawingml/2006/main" noGrp="1"/>
          </p:cNvSpPr>
          <p:nvPr/>
        </p:nvSpPr>
        <p:spPr>
          <a:xfrm xmlns:a="http://schemas.openxmlformats.org/drawingml/2006/main">
            <a:off x="609600" y="13430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E. coli MG1655, primary alignments with MAPQ ≥20, means across three seeds</a:t>
            </a:r>
          </a:p>
        </p:txBody>
      </p:sp>
      <p:graphicFrame>
        <p:nvGraphicFramePr>
          <p:cNvPr id="9" name="Chart"/>
          <p:cNvGraphicFramePr/>
          <p:nvPr/>
        </p:nvGraphicFramePr>
        <p:xfrm>
          <a:off xmlns:a="http://schemas.openxmlformats.org/drawingml/2006/main" x="666750" y="1952625"/>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5775726ffd5743a3"/>
          </a:graphicData>
        </a:graphic>
      </p:graphicFrame>
      <p:sp>
        <p:nvSpPr>
          <p:cNvPr id="5" name="">
            <a:extLst xmlns:a="http://schemas.openxmlformats.org/drawingml/2006/main">
              <a:ext uri="{FF2B5EF4-FFF2-40B4-BE49-F238E27FC236}">
                <a16:creationId xmlns:a16="http://schemas.microsoft.com/office/drawing/2014/main" id="{C028ED93-2442-483F-95B8-465B6BE93C68}"/>
              </a:ext>
            </a:extLst>
          </p:cNvPr>
          <p:cNvSpPr>
            <a:spLocks xmlns:a="http://schemas.openxmlformats.org/drawingml/2006/main" noGrp="1"/>
          </p:cNvSpPr>
          <p:nvPr/>
        </p:nvSpPr>
        <p:spPr>
          <a:xfrm xmlns:a="http://schemas.openxmlformats.org/drawingml/2006/main">
            <a:off x="609600" y="5543550"/>
            <a:ext cx="10801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Operational breadth plateau: Illumina 14.1×; Nanopore 15.8×</a:t>
            </a:r>
          </a:p>
        </p:txBody>
      </p:sp>
    </p:spTree>
    <p:extLst>
      <p:ext uri="{BB962C8B-B14F-4D97-AF65-F5344CB8AC3E}">
        <p14:creationId xmlns:p14="http://schemas.microsoft.com/office/powerpoint/2010/main" val="15351491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A48A11-EC29-4101-8D75-EDBF2CC68C02}"/>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Biological objectives determine depth</a:t>
            </a:r>
          </a:p>
        </p:txBody>
      </p:sp>
      <p:sp>
        <p:nvSpPr>
          <p:cNvPr id="2" name="">
            <a:extLst xmlns:a="http://schemas.openxmlformats.org/drawingml/2006/main">
              <a:ext uri="{FF2B5EF4-FFF2-40B4-BE49-F238E27FC236}">
                <a16:creationId xmlns:a16="http://schemas.microsoft.com/office/drawing/2014/main" id="{7C9C89B8-DD38-4674-A9C4-E6B09D0BE517}"/>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97E82039-8BE3-4E9E-8247-10EFCC9AE71C}"/>
              </a:ext>
            </a:extLst>
          </p:cNvPr>
          <p:cNvSpPr>
            <a:spLocks xmlns:a="http://schemas.openxmlformats.org/drawingml/2006/main" noGrp="1"/>
          </p:cNvSpPr>
          <p:nvPr/>
        </p:nvSpPr>
        <p:spPr>
          <a:xfrm xmlns:a="http://schemas.openxmlformats.org/drawingml/2006/main">
            <a:off x="609600" y="13620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The endpoint determines what additional reads can improve</a:t>
            </a:r>
          </a:p>
        </p:txBody>
      </p:sp>
      <p:graphicFrame>
        <p:nvGraphicFramePr>
          <p:cNvPr id="9" name=""/>
          <p:cNvGraphicFramePr/>
          <p:nvPr/>
        </p:nvGraphicFramePr>
        <p:xfrm>
          <a:off xmlns:a="http://schemas.openxmlformats.org/drawingml/2006/main" x="609600" y="2019300"/>
          <a:ext xmlns:a="http://schemas.openxmlformats.org/drawingml/2006/main" cx="10972800" cy="3143250"/>
        </p:xfrm>
        <a:graphic xmlns:a="http://schemas.openxmlformats.org/drawingml/2006/main">
          <a:graphicData uri="http://schemas.openxmlformats.org/drawingml/2006/table">
            <a:tbl>
              <a:tblPr/>
              <a:tblGrid>
                <a:gridCol w="2000250"/>
                <a:gridCol w="4210050"/>
                <a:gridCol w="4762500"/>
              </a:tblGrid>
              <a:tr h="785813">
                <a:tc>
                  <a:txBody>
                    <a:bodyPr/>
                    <a:lstStyle/>
                    <a:p>
                      <a:r>
                        <a:rPr sz="1875" b="1">
                          <a:solidFill>
                            <a:srgbClr val="FFFFFF"/>
                          </a:solidFill>
                          <a:latin typeface="Arial"/>
                          <a:ea typeface="Arial"/>
                          <a:cs typeface="Arial"/>
                        </a:rPr>
                        <a:t>Objective</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Useful evidence</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Remaining constraint</a:t>
                      </a:r>
                    </a:p>
                  </a:txBody>
                  <a:tcPr marL="133350" marR="133350" marT="133350" marB="114300" anchor="ctr">
                    <a:solidFill>
                      <a:srgbClr val="162C3F"/>
                    </a:solidFill>
                  </a:tcPr>
                </a:tc>
              </a:tr>
              <a:tr h="785813">
                <a:tc>
                  <a:txBody>
                    <a:bodyPr/>
                    <a:lstStyle/>
                    <a:p>
                      <a:r>
                        <a:rPr sz="1875">
                          <a:solidFill>
                            <a:srgbClr val="162C3F"/>
                          </a:solidFill>
                          <a:latin typeface="Arial"/>
                          <a:ea typeface="Arial"/>
                          <a:cs typeface="Arial"/>
                        </a:rPr>
                        <a:t>Small variants</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Independent support for an allele</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Bias, systematic errors and difficult loci</a:t>
                      </a:r>
                    </a:p>
                  </a:txBody>
                  <a:tcPr marL="133350" marR="133350" marT="133350" marB="114300" anchor="ctr">
                    <a:solidFill>
                      <a:srgbClr val="FFFFFF"/>
                    </a:solidFill>
                  </a:tcPr>
                </a:tc>
              </a:tr>
              <a:tr h="785813">
                <a:tc>
                  <a:txBody>
                    <a:bodyPr/>
                    <a:lstStyle/>
                    <a:p>
                      <a:r>
                        <a:rPr sz="1875">
                          <a:solidFill>
                            <a:srgbClr val="162C3F"/>
                          </a:solidFill>
                          <a:latin typeface="Arial"/>
                          <a:ea typeface="Arial"/>
                          <a:cs typeface="Arial"/>
                        </a:rPr>
                        <a:t>Gene expression</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Counts and biological replicates</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Abundance, dispersion and library complexity</a:t>
                      </a:r>
                    </a:p>
                  </a:txBody>
                  <a:tcPr marL="133350" marR="133350" marT="133350" marB="114300" anchor="ctr">
                    <a:solidFill>
                      <a:srgbClr val="FFFFFF"/>
                    </a:solidFill>
                  </a:tcPr>
                </a:tc>
              </a:tr>
              <a:tr h="785813">
                <a:tc>
                  <a:txBody>
                    <a:bodyPr/>
                    <a:lstStyle/>
                    <a:p>
                      <a:r>
                        <a:rPr sz="1875">
                          <a:solidFill>
                            <a:srgbClr val="162C3F"/>
                          </a:solidFill>
                          <a:latin typeface="Arial"/>
                          <a:ea typeface="Arial"/>
                          <a:cs typeface="Arial"/>
                        </a:rPr>
                        <a:t>Assembly</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Read overlaps and consensus support</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Read span must resolve relevant repeats</a:t>
                      </a:r>
                    </a:p>
                  </a:txBody>
                  <a:tcPr marL="133350" marR="133350" marT="13335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05102B0-F7E3-4B6D-9573-2104F9ACFCD7}"/>
              </a:ext>
            </a:extLst>
          </p:cNvPr>
          <p:cNvSpPr>
            <a:spLocks xmlns:a="http://schemas.openxmlformats.org/drawingml/2006/main" noGrp="1"/>
          </p:cNvSpPr>
          <p:nvPr/>
        </p:nvSpPr>
        <p:spPr>
          <a:xfrm xmlns:a="http://schemas.openxmlformats.org/drawingml/2006/main">
            <a:off x="609600" y="5505450"/>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One bacterial coverage curve cannot validate every biological endpoint</a:t>
            </a:r>
          </a:p>
        </p:txBody>
      </p:sp>
    </p:spTree>
    <p:extLst>
      <p:ext uri="{BB962C8B-B14F-4D97-AF65-F5344CB8AC3E}">
        <p14:creationId xmlns:p14="http://schemas.microsoft.com/office/powerpoint/2010/main" val="5537044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4ADB54-B43B-43BF-824E-EB0188357ACD}"/>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Archived bacterial data</a:t>
            </a:r>
          </a:p>
        </p:txBody>
      </p:sp>
      <p:sp>
        <p:nvSpPr>
          <p:cNvPr id="2" name="">
            <a:extLst xmlns:a="http://schemas.openxmlformats.org/drawingml/2006/main">
              <a:ext uri="{FF2B5EF4-FFF2-40B4-BE49-F238E27FC236}">
                <a16:creationId xmlns:a16="http://schemas.microsoft.com/office/drawing/2014/main" id="{CCBD87BE-78F7-448A-81A9-ED467C9D2AD0}"/>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DFCC2AE1-B1B7-4FC5-AA91-E494373F3D11}"/>
              </a:ext>
            </a:extLst>
          </p:cNvPr>
          <p:cNvSpPr>
            <a:spLocks xmlns:a="http://schemas.openxmlformats.org/drawingml/2006/main" noGrp="1"/>
          </p:cNvSpPr>
          <p:nvPr/>
        </p:nvSpPr>
        <p:spPr>
          <a:xfrm xmlns:a="http://schemas.openxmlformats.org/drawingml/2006/main">
            <a:off x="609600" y="13620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Two independently archived MG1655 runs and a versioned reference</a:t>
            </a:r>
          </a:p>
        </p:txBody>
      </p:sp>
      <p:graphicFrame>
        <p:nvGraphicFramePr>
          <p:cNvPr id="9" name=""/>
          <p:cNvGraphicFramePr/>
          <p:nvPr/>
        </p:nvGraphicFramePr>
        <p:xfrm>
          <a:off xmlns:a="http://schemas.openxmlformats.org/drawingml/2006/main" x="609600" y="2019300"/>
          <a:ext xmlns:a="http://schemas.openxmlformats.org/drawingml/2006/main" cx="10972800" cy="3162300"/>
        </p:xfrm>
        <a:graphic xmlns:a="http://schemas.openxmlformats.org/drawingml/2006/main">
          <a:graphicData uri="http://schemas.openxmlformats.org/drawingml/2006/table">
            <a:tbl>
              <a:tblPr/>
              <a:tblGrid>
                <a:gridCol w="3286125"/>
                <a:gridCol w="3238500"/>
                <a:gridCol w="4448175"/>
              </a:tblGrid>
              <a:tr h="790575">
                <a:tc>
                  <a:txBody>
                    <a:bodyPr/>
                    <a:lstStyle/>
                    <a:p>
                      <a:r>
                        <a:rPr sz="1875" b="1">
                          <a:solidFill>
                            <a:srgbClr val="FFFFFF"/>
                          </a:solidFill>
                          <a:latin typeface="Arial"/>
                          <a:ea typeface="Arial"/>
                          <a:cs typeface="Arial"/>
                        </a:rPr>
                        <a:t>Source</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Accession</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Acquired input</a:t>
                      </a:r>
                    </a:p>
                  </a:txBody>
                  <a:tcPr marL="133350" marR="133350" marT="133350" marB="114300" anchor="ctr">
                    <a:solidFill>
                      <a:srgbClr val="162C3F"/>
                    </a:solidFill>
                  </a:tcPr>
                </a:tc>
              </a:tr>
              <a:tr h="790575">
                <a:tc>
                  <a:txBody>
                    <a:bodyPr/>
                    <a:lstStyle/>
                    <a:p>
                      <a:r>
                        <a:rPr sz="1875">
                          <a:solidFill>
                            <a:srgbClr val="162C3F"/>
                          </a:solidFill>
                          <a:latin typeface="Arial"/>
                          <a:ea typeface="Arial"/>
                          <a:cs typeface="Arial"/>
                        </a:rPr>
                        <a:t>Illumina MiSeq WGS</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SRR1030394</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400,000 paired molecules</a:t>
                      </a:r>
                    </a:p>
                  </a:txBody>
                  <a:tcPr marL="133350" marR="133350" marT="133350" marB="114300" anchor="ctr">
                    <a:solidFill>
                      <a:srgbClr val="FFFFFF"/>
                    </a:solidFill>
                  </a:tcPr>
                </a:tc>
              </a:tr>
              <a:tr h="790575">
                <a:tc>
                  <a:txBody>
                    <a:bodyPr/>
                    <a:lstStyle/>
                    <a:p>
                      <a:r>
                        <a:rPr sz="1875">
                          <a:solidFill>
                            <a:srgbClr val="162C3F"/>
                          </a:solidFill>
                          <a:latin typeface="Arial"/>
                          <a:ea typeface="Arial"/>
                          <a:cs typeface="Arial"/>
                        </a:rPr>
                        <a:t>GridION WGA label</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SRR33602302</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60,000 single reads</a:t>
                      </a:r>
                    </a:p>
                  </a:txBody>
                  <a:tcPr marL="133350" marR="133350" marT="133350" marB="114300" anchor="ctr">
                    <a:solidFill>
                      <a:srgbClr val="FFFFFF"/>
                    </a:solidFill>
                  </a:tcPr>
                </a:tc>
              </a:tr>
              <a:tr h="790575">
                <a:tc>
                  <a:txBody>
                    <a:bodyPr/>
                    <a:lstStyle/>
                    <a:p>
                      <a:r>
                        <a:rPr sz="1875">
                          <a:solidFill>
                            <a:srgbClr val="162C3F"/>
                          </a:solidFill>
                          <a:latin typeface="Arial"/>
                          <a:ea typeface="Arial"/>
                          <a:cs typeface="Arial"/>
                        </a:rPr>
                        <a:t>MG1655 reference</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U00096.3 / NC_000913.3</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4,641,652 bp</a:t>
                      </a:r>
                    </a:p>
                  </a:txBody>
                  <a:tcPr marL="133350" marR="133350" marT="13335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0D326A-1B4F-4D02-BA54-55918069D21D}"/>
              </a:ext>
            </a:extLst>
          </p:cNvPr>
          <p:cNvSpPr>
            <a:spLocks xmlns:a="http://schemas.openxmlformats.org/drawingml/2006/main" noGrp="1"/>
          </p:cNvSpPr>
          <p:nvPr/>
        </p:nvSpPr>
        <p:spPr>
          <a:xfrm xmlns:a="http://schemas.openxmlformats.org/drawingml/2006/main">
            <a:off x="609600" y="5505450"/>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Different BioSamples and library histories limit causal platform comparisons</a:t>
            </a:r>
          </a:p>
        </p:txBody>
      </p:sp>
    </p:spTree>
    <p:extLst>
      <p:ext uri="{BB962C8B-B14F-4D97-AF65-F5344CB8AC3E}">
        <p14:creationId xmlns:p14="http://schemas.microsoft.com/office/powerpoint/2010/main" val="19850951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6DF914-9FA1-49F6-84B3-C86265D7B4A6}"/>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Archived designs by release year</a:t>
            </a:r>
          </a:p>
        </p:txBody>
      </p:sp>
      <p:sp>
        <p:nvSpPr>
          <p:cNvPr id="2" name="">
            <a:extLst xmlns:a="http://schemas.openxmlformats.org/drawingml/2006/main">
              <a:ext uri="{FF2B5EF4-FFF2-40B4-BE49-F238E27FC236}">
                <a16:creationId xmlns:a16="http://schemas.microsoft.com/office/drawing/2014/main" id="{4530F7EB-ACF6-441F-98DB-5FD6B061A9AD}"/>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4C4D2C61-F8F7-4675-8CD2-E324010EAE3F}"/>
              </a:ext>
            </a:extLst>
          </p:cNvPr>
          <p:cNvSpPr>
            <a:spLocks xmlns:a="http://schemas.openxmlformats.org/drawingml/2006/main" noGrp="1"/>
          </p:cNvSpPr>
          <p:nvPr/>
        </p:nvSpPr>
        <p:spPr>
          <a:xfrm xmlns:a="http://schemas.openxmlformats.org/drawingml/2006/main">
            <a:off x="609600" y="13430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999,988 records in the cohort; three platforms shown: 970,678 runs</a:t>
            </a:r>
          </a:p>
        </p:txBody>
      </p:sp>
      <p:graphicFrame>
        <p:nvGraphicFramePr>
          <p:cNvPr id="9" name="Chart"/>
          <p:cNvGraphicFramePr/>
          <p:nvPr/>
        </p:nvGraphicFramePr>
        <p:xfrm>
          <a:off xmlns:a="http://schemas.openxmlformats.org/drawingml/2006/main" x="666750" y="1943100"/>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a3a84a6b69f6486f"/>
          </a:graphicData>
        </a:graphic>
      </p:graphicFrame>
      <p:sp>
        <p:nvSpPr>
          <p:cNvPr id="5" name="">
            <a:extLst xmlns:a="http://schemas.openxmlformats.org/drawingml/2006/main">
              <a:ext uri="{FF2B5EF4-FFF2-40B4-BE49-F238E27FC236}">
                <a16:creationId xmlns:a16="http://schemas.microsoft.com/office/drawing/2014/main" id="{A90591BB-0B2C-4773-AD4D-E7D3187A4320}"/>
              </a:ext>
            </a:extLst>
          </p:cNvPr>
          <p:cNvSpPr>
            <a:spLocks xmlns:a="http://schemas.openxmlformats.org/drawingml/2006/main" noGrp="1"/>
          </p:cNvSpPr>
          <p:nvPr/>
        </p:nvSpPr>
        <p:spPr>
          <a:xfrm xmlns:a="http://schemas.openxmlformats.org/drawingml/2006/main">
            <a:off x="609600" y="55340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47F83"/>
                </a:solidFill>
                <a:latin typeface="Arial"/>
                <a:ea typeface="Arial"/>
                <a:cs typeface="Arial"/>
              </a:defRPr>
            </a:pPr>
            <a:r>
              <a:rPr sz="1950" b="1">
                <a:solidFill>
                  <a:srgbClr val="047F83"/>
                </a:solidFill>
                <a:latin typeface="Arial"/>
                <a:ea typeface="Arial"/>
                <a:cs typeface="Arial"/>
              </a:rPr>
              <a:t>This capped query cohort cannot establish full-archive platform prevalence</a:t>
            </a:r>
          </a:p>
        </p:txBody>
      </p:sp>
    </p:spTree>
    <p:extLst>
      <p:ext uri="{BB962C8B-B14F-4D97-AF65-F5344CB8AC3E}">
        <p14:creationId xmlns:p14="http://schemas.microsoft.com/office/powerpoint/2010/main" val="19628690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DA57B-5444-4F0F-A4B6-DCAA7DE434E2}"/>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Reproducible downsampling method</a:t>
            </a:r>
          </a:p>
        </p:txBody>
      </p:sp>
      <p:sp>
        <p:nvSpPr>
          <p:cNvPr id="2" name="">
            <a:extLst xmlns:a="http://schemas.openxmlformats.org/drawingml/2006/main">
              <a:ext uri="{FF2B5EF4-FFF2-40B4-BE49-F238E27FC236}">
                <a16:creationId xmlns:a16="http://schemas.microsoft.com/office/drawing/2014/main" id="{23475F56-9DDA-4153-8213-F23F7AF9C797}"/>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BDEC1025-C31E-4EB8-9975-38B1D9065C88}"/>
              </a:ext>
            </a:extLst>
          </p:cNvPr>
          <p:cNvSpPr>
            <a:spLocks xmlns:a="http://schemas.openxmlformats.org/drawingml/2006/main" noGrp="1"/>
          </p:cNvSpPr>
          <p:nvPr/>
        </p:nvSpPr>
        <p:spPr>
          <a:xfrm xmlns:a="http://schemas.openxmlformats.org/drawingml/2006/main">
            <a:off x="609600" y="14001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877"/>
                </a:solidFill>
                <a:latin typeface="Arial"/>
                <a:ea typeface="Arial"/>
                <a:cs typeface="Arial"/>
              </a:defRPr>
            </a:pPr>
            <a:r>
              <a:rPr sz="2025" b="0">
                <a:solidFill>
                  <a:srgbClr val="536877"/>
                </a:solidFill>
                <a:latin typeface="Arial"/>
                <a:ea typeface="Arial"/>
                <a:cs typeface="Arial"/>
              </a:rPr>
              <a:t>The reference, mapping parameters and QC acceptance policy stay fixed</a:t>
            </a:r>
          </a:p>
        </p:txBody>
      </p:sp>
      <p:sp>
        <p:nvSpPr>
          <p:cNvPr id="4" name="">
            <a:extLst xmlns:a="http://schemas.openxmlformats.org/drawingml/2006/main">
              <a:ext uri="{FF2B5EF4-FFF2-40B4-BE49-F238E27FC236}">
                <a16:creationId xmlns:a16="http://schemas.microsoft.com/office/drawing/2014/main" id="{E14B30BA-533B-4D2A-A0DE-C574A7B356F8}"/>
              </a:ext>
            </a:extLst>
          </p:cNvPr>
          <p:cNvSpPr>
            <a:spLocks xmlns:a="http://schemas.openxmlformats.org/drawingml/2006/main" noGrp="1"/>
          </p:cNvSpPr>
          <p:nvPr/>
        </p:nvSpPr>
        <p:spPr>
          <a:xfrm xmlns:a="http://schemas.openxmlformats.org/drawingml/2006/main">
            <a:off x="628650" y="23812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47F83"/>
                </a:solidFill>
                <a:latin typeface="Arial"/>
                <a:ea typeface="Arial"/>
                <a:cs typeface="Arial"/>
              </a:defRPr>
            </a:pPr>
            <a:r>
              <a:rPr sz="3225" b="1">
                <a:solidFill>
                  <a:srgbClr val="047F8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AB56258-9202-422B-9D14-05F3C2620053}"/>
              </a:ext>
            </a:extLst>
          </p:cNvPr>
          <p:cNvSpPr>
            <a:spLocks xmlns:a="http://schemas.openxmlformats.org/drawingml/2006/main" noGrp="1"/>
          </p:cNvSpPr>
          <p:nvPr/>
        </p:nvSpPr>
        <p:spPr>
          <a:xfrm xmlns:a="http://schemas.openxmlformats.org/drawingml/2006/main">
            <a:off x="1581150" y="2400300"/>
            <a:ext cx="952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C3F"/>
                </a:solidFill>
                <a:latin typeface="Arial"/>
                <a:ea typeface="Arial"/>
                <a:cs typeface="Arial"/>
              </a:defRPr>
            </a:pPr>
            <a:r>
              <a:rPr sz="2025" b="0">
                <a:solidFill>
                  <a:srgbClr val="162C3F"/>
                </a:solidFill>
                <a:latin typeface="Arial"/>
                <a:ea typeface="Arial"/>
                <a:cs typeface="Arial"/>
              </a:rPr>
              <a:t>Scripted retrieval saves accessions, sample joins and local checksums</a:t>
            </a:r>
          </a:p>
        </p:txBody>
      </p:sp>
      <p:sp>
        <p:nvSpPr>
          <p:cNvPr id="6" name="">
            <a:extLst xmlns:a="http://schemas.openxmlformats.org/drawingml/2006/main">
              <a:ext uri="{FF2B5EF4-FFF2-40B4-BE49-F238E27FC236}">
                <a16:creationId xmlns:a16="http://schemas.microsoft.com/office/drawing/2014/main" id="{63A1686B-5BE0-41A3-9C56-3D85B5AA569D}"/>
              </a:ext>
            </a:extLst>
          </p:cNvPr>
          <p:cNvSpPr>
            <a:spLocks xmlns:a="http://schemas.openxmlformats.org/drawingml/2006/main" noGrp="1"/>
          </p:cNvSpPr>
          <p:nvPr/>
        </p:nvSpPr>
        <p:spPr>
          <a:xfrm xmlns:a="http://schemas.openxmlformats.org/drawingml/2006/main">
            <a:off x="628650" y="32480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47F83"/>
                </a:solidFill>
                <a:latin typeface="Arial"/>
                <a:ea typeface="Arial"/>
                <a:cs typeface="Arial"/>
              </a:defRPr>
            </a:pPr>
            <a:r>
              <a:rPr sz="3225" b="1">
                <a:solidFill>
                  <a:srgbClr val="047F8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3898F2C-B6EB-4D45-89BF-3068B04EC757}"/>
              </a:ext>
            </a:extLst>
          </p:cNvPr>
          <p:cNvSpPr>
            <a:spLocks xmlns:a="http://schemas.openxmlformats.org/drawingml/2006/main" noGrp="1"/>
          </p:cNvSpPr>
          <p:nvPr/>
        </p:nvSpPr>
        <p:spPr>
          <a:xfrm xmlns:a="http://schemas.openxmlformats.org/drawingml/2006/main">
            <a:off x="1581150" y="3267075"/>
            <a:ext cx="952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C3F"/>
                </a:solidFill>
                <a:latin typeface="Arial"/>
                <a:ea typeface="Arial"/>
                <a:cs typeface="Arial"/>
              </a:defRPr>
            </a:pPr>
            <a:r>
              <a:rPr sz="2025" b="0">
                <a:solidFill>
                  <a:srgbClr val="162C3F"/>
                </a:solidFill>
                <a:latin typeface="Arial"/>
                <a:ea typeface="Arial"/>
                <a:cs typeface="Arial"/>
              </a:rPr>
              <a:t>One BLAKE2b sampling decision retains both mates of each molecule</a:t>
            </a:r>
          </a:p>
        </p:txBody>
      </p:sp>
      <p:sp>
        <p:nvSpPr>
          <p:cNvPr id="8" name="">
            <a:extLst xmlns:a="http://schemas.openxmlformats.org/drawingml/2006/main">
              <a:ext uri="{FF2B5EF4-FFF2-40B4-BE49-F238E27FC236}">
                <a16:creationId xmlns:a16="http://schemas.microsoft.com/office/drawing/2014/main" id="{D4C538EC-794E-4AE6-89B1-E6E2B8F510C5}"/>
              </a:ext>
            </a:extLst>
          </p:cNvPr>
          <p:cNvSpPr>
            <a:spLocks xmlns:a="http://schemas.openxmlformats.org/drawingml/2006/main" noGrp="1"/>
          </p:cNvSpPr>
          <p:nvPr/>
        </p:nvSpPr>
        <p:spPr>
          <a:xfrm xmlns:a="http://schemas.openxmlformats.org/drawingml/2006/main">
            <a:off x="628650" y="41148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47F83"/>
                </a:solidFill>
                <a:latin typeface="Arial"/>
                <a:ea typeface="Arial"/>
                <a:cs typeface="Arial"/>
              </a:defRPr>
            </a:pPr>
            <a:r>
              <a:rPr sz="3225" b="1">
                <a:solidFill>
                  <a:srgbClr val="047F83"/>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D5B8A342-6703-4948-90A5-E6B57AB1CF7B}"/>
              </a:ext>
            </a:extLst>
          </p:cNvPr>
          <p:cNvSpPr>
            <a:spLocks xmlns:a="http://schemas.openxmlformats.org/drawingml/2006/main" noGrp="1"/>
          </p:cNvSpPr>
          <p:nvPr/>
        </p:nvSpPr>
        <p:spPr>
          <a:xfrm xmlns:a="http://schemas.openxmlformats.org/drawingml/2006/main">
            <a:off x="1581150" y="4133850"/>
            <a:ext cx="952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C3F"/>
                </a:solidFill>
                <a:latin typeface="Arial"/>
                <a:ea typeface="Arial"/>
                <a:cs typeface="Arial"/>
              </a:defRPr>
            </a:pPr>
            <a:r>
              <a:rPr sz="2025" b="0">
                <a:solidFill>
                  <a:srgbClr val="162C3F"/>
                </a:solidFill>
                <a:latin typeface="Arial"/>
                <a:ea typeface="Arial"/>
                <a:cs typeface="Arial"/>
              </a:rPr>
              <a:t>Minimap2 aligns short and long reads with platform-specific presets</a:t>
            </a:r>
          </a:p>
        </p:txBody>
      </p:sp>
      <p:sp>
        <p:nvSpPr>
          <p:cNvPr id="10" name="">
            <a:extLst xmlns:a="http://schemas.openxmlformats.org/drawingml/2006/main">
              <a:ext uri="{FF2B5EF4-FFF2-40B4-BE49-F238E27FC236}">
                <a16:creationId xmlns:a16="http://schemas.microsoft.com/office/drawing/2014/main" id="{4BE6B03D-62BC-4D8B-A455-2CA0D89BAB80}"/>
              </a:ext>
            </a:extLst>
          </p:cNvPr>
          <p:cNvSpPr>
            <a:spLocks xmlns:a="http://schemas.openxmlformats.org/drawingml/2006/main" noGrp="1"/>
          </p:cNvSpPr>
          <p:nvPr/>
        </p:nvSpPr>
        <p:spPr>
          <a:xfrm xmlns:a="http://schemas.openxmlformats.org/drawingml/2006/main">
            <a:off x="628650" y="49815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47F83"/>
                </a:solidFill>
                <a:latin typeface="Arial"/>
                <a:ea typeface="Arial"/>
                <a:cs typeface="Arial"/>
              </a:defRPr>
            </a:pPr>
            <a:r>
              <a:rPr sz="3225" b="1">
                <a:solidFill>
                  <a:srgbClr val="047F83"/>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6413C69C-789F-407E-BF18-EA2D991036A0}"/>
              </a:ext>
            </a:extLst>
          </p:cNvPr>
          <p:cNvSpPr>
            <a:spLocks xmlns:a="http://schemas.openxmlformats.org/drawingml/2006/main" noGrp="1"/>
          </p:cNvSpPr>
          <p:nvPr/>
        </p:nvSpPr>
        <p:spPr>
          <a:xfrm xmlns:a="http://schemas.openxmlformats.org/drawingml/2006/main">
            <a:off x="1581150" y="5000625"/>
            <a:ext cx="952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C3F"/>
                </a:solidFill>
                <a:latin typeface="Arial"/>
                <a:ea typeface="Arial"/>
                <a:cs typeface="Arial"/>
              </a:defRPr>
            </a:pPr>
            <a:r>
              <a:rPr sz="2025" b="0">
                <a:solidFill>
                  <a:srgbClr val="162C3F"/>
                </a:solidFill>
                <a:latin typeface="Arial"/>
                <a:ea typeface="Arial"/>
                <a:cs typeface="Arial"/>
              </a:rPr>
              <a:t>Nine nested fractions and three seeds measure mapping and breadth</a:t>
            </a:r>
          </a:p>
        </p:txBody>
      </p:sp>
    </p:spTree>
    <p:extLst>
      <p:ext uri="{BB962C8B-B14F-4D97-AF65-F5344CB8AC3E}">
        <p14:creationId xmlns:p14="http://schemas.microsoft.com/office/powerpoint/2010/main" val="7745659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7A7625-CC24-40E9-9F30-5EEF5C131F28}"/>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Platform-specific quality control</a:t>
            </a:r>
          </a:p>
        </p:txBody>
      </p:sp>
      <p:sp>
        <p:nvSpPr>
          <p:cNvPr id="2" name="">
            <a:extLst xmlns:a="http://schemas.openxmlformats.org/drawingml/2006/main">
              <a:ext uri="{FF2B5EF4-FFF2-40B4-BE49-F238E27FC236}">
                <a16:creationId xmlns:a16="http://schemas.microsoft.com/office/drawing/2014/main" id="{3DDB09AF-E84C-4D1F-8904-8A4280A8B502}"/>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A09F7B7A-66F5-4E15-B04A-11AB567F81A9}"/>
              </a:ext>
            </a:extLst>
          </p:cNvPr>
          <p:cNvSpPr>
            <a:spLocks xmlns:a="http://schemas.openxmlformats.org/drawingml/2006/main" noGrp="1"/>
          </p:cNvSpPr>
          <p:nvPr/>
        </p:nvSpPr>
        <p:spPr>
          <a:xfrm xmlns:a="http://schemas.openxmlformats.org/drawingml/2006/main">
            <a:off x="609600" y="13620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Quality scores predict errors. Independent truth data establish accuracy</a:t>
            </a:r>
          </a:p>
        </p:txBody>
      </p:sp>
      <p:graphicFrame>
        <p:nvGraphicFramePr>
          <p:cNvPr id="9" name=""/>
          <p:cNvGraphicFramePr/>
          <p:nvPr/>
        </p:nvGraphicFramePr>
        <p:xfrm>
          <a:off xmlns:a="http://schemas.openxmlformats.org/drawingml/2006/main" x="609600" y="2019300"/>
          <a:ext xmlns:a="http://schemas.openxmlformats.org/drawingml/2006/main" cx="10972800" cy="3333750"/>
        </p:xfrm>
        <a:graphic xmlns:a="http://schemas.openxmlformats.org/drawingml/2006/main">
          <a:graphicData uri="http://schemas.openxmlformats.org/drawingml/2006/table">
            <a:tbl>
              <a:tblPr/>
              <a:tblGrid>
                <a:gridCol w="4191000"/>
                <a:gridCol w="3390900"/>
                <a:gridCol w="3390900"/>
              </a:tblGrid>
              <a:tr h="666750">
                <a:tc>
                  <a:txBody>
                    <a:bodyPr/>
                    <a:lstStyle/>
                    <a:p>
                      <a:r>
                        <a:rPr sz="1800" b="1">
                          <a:solidFill>
                            <a:srgbClr val="FFFFFF"/>
                          </a:solidFill>
                          <a:latin typeface="Arial"/>
                          <a:ea typeface="Arial"/>
                          <a:cs typeface="Arial"/>
                        </a:rPr>
                        <a:t>Measured metric</a:t>
                      </a:r>
                    </a:p>
                  </a:txBody>
                  <a:tcPr marL="133350" marR="133350" marT="133350" marB="114300" anchor="ctr">
                    <a:solidFill>
                      <a:srgbClr val="162C3F"/>
                    </a:solidFill>
                  </a:tcPr>
                </a:tc>
                <a:tc>
                  <a:txBody>
                    <a:bodyPr/>
                    <a:lstStyle/>
                    <a:p>
                      <a:r>
                        <a:rPr sz="1800" b="1">
                          <a:solidFill>
                            <a:srgbClr val="FFFFFF"/>
                          </a:solidFill>
                          <a:latin typeface="Arial"/>
                          <a:ea typeface="Arial"/>
                          <a:cs typeface="Arial"/>
                        </a:rPr>
                        <a:t>Illumina</a:t>
                      </a:r>
                    </a:p>
                  </a:txBody>
                  <a:tcPr marL="133350" marR="133350" marT="133350" marB="114300" anchor="ctr">
                    <a:solidFill>
                      <a:srgbClr val="162C3F"/>
                    </a:solidFill>
                  </a:tcPr>
                </a:tc>
                <a:tc>
                  <a:txBody>
                    <a:bodyPr/>
                    <a:lstStyle/>
                    <a:p>
                      <a:r>
                        <a:rPr sz="1800" b="1">
                          <a:solidFill>
                            <a:srgbClr val="FFFFFF"/>
                          </a:solidFill>
                          <a:latin typeface="Arial"/>
                          <a:ea typeface="Arial"/>
                          <a:cs typeface="Arial"/>
                        </a:rPr>
                        <a:t>Nanopore</a:t>
                      </a:r>
                    </a:p>
                  </a:txBody>
                  <a:tcPr marL="133350" marR="133350" marT="133350" marB="114300" anchor="ctr">
                    <a:solidFill>
                      <a:srgbClr val="162C3F"/>
                    </a:solidFill>
                  </a:tcPr>
                </a:tc>
              </a:tr>
              <a:tr h="666750">
                <a:tc>
                  <a:txBody>
                    <a:bodyPr/>
                    <a:lstStyle/>
                    <a:p>
                      <a:r>
                        <a:rPr sz="1800">
                          <a:solidFill>
                            <a:srgbClr val="162C3F"/>
                          </a:solidFill>
                          <a:latin typeface="Arial"/>
                          <a:ea typeface="Arial"/>
                          <a:cs typeface="Arial"/>
                        </a:rPr>
                        <a:t>Raw mean read length</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243 bp</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3534 bp</a:t>
                      </a:r>
                    </a:p>
                  </a:txBody>
                  <a:tcPr marL="133350" marR="133350" marT="133350" marB="114300" anchor="ctr">
                    <a:solidFill>
                      <a:srgbClr val="FFFFFF"/>
                    </a:solidFill>
                  </a:tcPr>
                </a:tc>
              </a:tr>
              <a:tr h="666750">
                <a:tc>
                  <a:txBody>
                    <a:bodyPr/>
                    <a:lstStyle/>
                    <a:p>
                      <a:r>
                        <a:rPr sz="1800">
                          <a:solidFill>
                            <a:srgbClr val="162C3F"/>
                          </a:solidFill>
                          <a:latin typeface="Arial"/>
                          <a:ea typeface="Arial"/>
                          <a:cs typeface="Arial"/>
                        </a:rPr>
                        <a:t>Raw Q20 base fraction</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84.7%</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94.6%</a:t>
                      </a:r>
                    </a:p>
                  </a:txBody>
                  <a:tcPr marL="133350" marR="133350" marT="133350" marB="114300" anchor="ctr">
                    <a:solidFill>
                      <a:srgbClr val="FFFFFF"/>
                    </a:solidFill>
                  </a:tcPr>
                </a:tc>
              </a:tr>
              <a:tr h="666750">
                <a:tc>
                  <a:txBody>
                    <a:bodyPr/>
                    <a:lstStyle/>
                    <a:p>
                      <a:r>
                        <a:rPr sz="1800">
                          <a:solidFill>
                            <a:srgbClr val="162C3F"/>
                          </a:solidFill>
                          <a:latin typeface="Arial"/>
                          <a:ea typeface="Arial"/>
                          <a:cs typeface="Arial"/>
                        </a:rPr>
                        <a:t>Molecule retention after QC</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96.2%</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83.6%</a:t>
                      </a:r>
                    </a:p>
                  </a:txBody>
                  <a:tcPr marL="133350" marR="133350" marT="133350" marB="114300" anchor="ctr">
                    <a:solidFill>
                      <a:srgbClr val="FFFFFF"/>
                    </a:solidFill>
                  </a:tcPr>
                </a:tc>
              </a:tr>
              <a:tr h="666750">
                <a:tc>
                  <a:txBody>
                    <a:bodyPr/>
                    <a:lstStyle/>
                    <a:p>
                      <a:r>
                        <a:rPr sz="1800">
                          <a:solidFill>
                            <a:srgbClr val="162C3F"/>
                          </a:solidFill>
                          <a:latin typeface="Arial"/>
                          <a:ea typeface="Arial"/>
                          <a:cs typeface="Arial"/>
                        </a:rPr>
                        <a:t>Read filter thresholds</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Q20 tail, ≥50 bp, mean Q≥20</a:t>
                      </a:r>
                    </a:p>
                  </a:txBody>
                  <a:tcPr marL="133350" marR="133350" marT="133350" marB="114300" anchor="ctr">
                    <a:solidFill>
                      <a:srgbClr val="FFFFFF"/>
                    </a:solidFill>
                  </a:tcPr>
                </a:tc>
                <a:tc>
                  <a:txBody>
                    <a:bodyPr/>
                    <a:lstStyle/>
                    <a:p>
                      <a:r>
                        <a:rPr sz="1800">
                          <a:solidFill>
                            <a:srgbClr val="162C3F"/>
                          </a:solidFill>
                          <a:latin typeface="Arial"/>
                          <a:ea typeface="Arial"/>
                          <a:cs typeface="Arial"/>
                        </a:rPr>
                        <a:t>≥500 bp, mean Q≥7</a:t>
                      </a:r>
                    </a:p>
                  </a:txBody>
                  <a:tcPr marL="133350" marR="133350" marT="13335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F956AF-DD70-4BF5-9CA6-4CB20A4276BA}"/>
              </a:ext>
            </a:extLst>
          </p:cNvPr>
          <p:cNvSpPr>
            <a:spLocks xmlns:a="http://schemas.openxmlformats.org/drawingml/2006/main" noGrp="1"/>
          </p:cNvSpPr>
          <p:nvPr/>
        </p:nvSpPr>
        <p:spPr>
          <a:xfrm xmlns:a="http://schemas.openxmlformats.org/drawingml/2006/main">
            <a:off x="609600" y="5657850"/>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Filter thresholds and their quantitative effects remain visible</a:t>
            </a:r>
          </a:p>
        </p:txBody>
      </p:sp>
    </p:spTree>
    <p:extLst>
      <p:ext uri="{BB962C8B-B14F-4D97-AF65-F5344CB8AC3E}">
        <p14:creationId xmlns:p14="http://schemas.microsoft.com/office/powerpoint/2010/main" val="6697853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4CD650-C51C-40BA-9BDD-B60D4C953BAC}"/>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Mapping fraction remains stable</a:t>
            </a:r>
          </a:p>
        </p:txBody>
      </p:sp>
      <p:sp>
        <p:nvSpPr>
          <p:cNvPr id="2" name="">
            <a:extLst xmlns:a="http://schemas.openxmlformats.org/drawingml/2006/main">
              <a:ext uri="{FF2B5EF4-FFF2-40B4-BE49-F238E27FC236}">
                <a16:creationId xmlns:a16="http://schemas.microsoft.com/office/drawing/2014/main" id="{86ED80C3-3B0C-4D58-B013-773314ED0AE1}"/>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B33E7D48-521E-45FB-9628-A0E27F7F9356}"/>
              </a:ext>
            </a:extLst>
          </p:cNvPr>
          <p:cNvSpPr>
            <a:spLocks xmlns:a="http://schemas.openxmlformats.org/drawingml/2006/main" noGrp="1"/>
          </p:cNvSpPr>
          <p:nvPr/>
        </p:nvSpPr>
        <p:spPr>
          <a:xfrm xmlns:a="http://schemas.openxmlformats.org/drawingml/2006/main">
            <a:off x="609600" y="13430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Mean MAPQ across depths: Illumina 58.26–58.33; Nanopore 59.77–59.81</a:t>
            </a:r>
          </a:p>
        </p:txBody>
      </p:sp>
      <p:graphicFrame>
        <p:nvGraphicFramePr>
          <p:cNvPr id="9" name="Chart"/>
          <p:cNvGraphicFramePr/>
          <p:nvPr/>
        </p:nvGraphicFramePr>
        <p:xfrm>
          <a:off xmlns:a="http://schemas.openxmlformats.org/drawingml/2006/main" x="666750" y="1952625"/>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0c85c296dfa24628"/>
          </a:graphicData>
        </a:graphic>
      </p:graphicFrame>
      <p:sp>
        <p:nvSpPr>
          <p:cNvPr id="5" name="">
            <a:extLst xmlns:a="http://schemas.openxmlformats.org/drawingml/2006/main">
              <a:ext uri="{FF2B5EF4-FFF2-40B4-BE49-F238E27FC236}">
                <a16:creationId xmlns:a16="http://schemas.microsoft.com/office/drawing/2014/main" id="{CD76FFA6-4176-47E0-B63A-092DE4222916}"/>
              </a:ext>
            </a:extLst>
          </p:cNvPr>
          <p:cNvSpPr>
            <a:spLocks xmlns:a="http://schemas.openxmlformats.org/drawingml/2006/main" noGrp="1"/>
          </p:cNvSpPr>
          <p:nvPr/>
        </p:nvSpPr>
        <p:spPr>
          <a:xfrm xmlns:a="http://schemas.openxmlformats.org/drawingml/2006/main">
            <a:off x="609600" y="5543550"/>
            <a:ext cx="10801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Less data reduces reference support while the mapped fraction can stay high</a:t>
            </a:r>
          </a:p>
        </p:txBody>
      </p:sp>
    </p:spTree>
    <p:extLst>
      <p:ext uri="{BB962C8B-B14F-4D97-AF65-F5344CB8AC3E}">
        <p14:creationId xmlns:p14="http://schemas.microsoft.com/office/powerpoint/2010/main" val="9472694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F7A893-F71E-45A7-8BD5-A2F84B8857BB}"/>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Batching changes the project cost</a:t>
            </a:r>
          </a:p>
        </p:txBody>
      </p:sp>
      <p:sp>
        <p:nvSpPr>
          <p:cNvPr id="2" name="">
            <a:extLst xmlns:a="http://schemas.openxmlformats.org/drawingml/2006/main">
              <a:ext uri="{FF2B5EF4-FFF2-40B4-BE49-F238E27FC236}">
                <a16:creationId xmlns:a16="http://schemas.microsoft.com/office/drawing/2014/main" id="{CB87BA1F-977E-4B37-ABD1-8DD1B7749453}"/>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9DB96298-3722-4327-9AE5-8D2D94BE30DD}"/>
              </a:ext>
            </a:extLst>
          </p:cNvPr>
          <p:cNvSpPr>
            <a:spLocks xmlns:a="http://schemas.openxmlformats.org/drawingml/2006/main" noGrp="1"/>
          </p:cNvSpPr>
          <p:nvPr/>
        </p:nvSpPr>
        <p:spPr>
          <a:xfrm xmlns:a="http://schemas.openxmlformats.org/drawingml/2006/main">
            <a:off x="609600" y="13620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Planning scenario: six 4.6 Mb clonal isolates, 20× effective target</a:t>
            </a:r>
          </a:p>
        </p:txBody>
      </p:sp>
      <p:graphicFrame>
        <p:nvGraphicFramePr>
          <p:cNvPr id="9" name=""/>
          <p:cNvGraphicFramePr/>
          <p:nvPr/>
        </p:nvGraphicFramePr>
        <p:xfrm>
          <a:off xmlns:a="http://schemas.openxmlformats.org/drawingml/2006/main" x="609600" y="1847850"/>
          <a:ext xmlns:a="http://schemas.openxmlformats.org/drawingml/2006/main" cx="10972800" cy="3448050"/>
        </p:xfrm>
        <a:graphic xmlns:a="http://schemas.openxmlformats.org/drawingml/2006/main">
          <a:graphicData uri="http://schemas.openxmlformats.org/drawingml/2006/table">
            <a:tbl>
              <a:tblPr/>
              <a:tblGrid>
                <a:gridCol w="5000625"/>
                <a:gridCol w="2981325"/>
                <a:gridCol w="2990850"/>
              </a:tblGrid>
              <a:tr h="574675">
                <a:tc>
                  <a:txBody>
                    <a:bodyPr/>
                    <a:lstStyle/>
                    <a:p>
                      <a:r>
                        <a:rPr sz="1875" b="1">
                          <a:solidFill>
                            <a:srgbClr val="FFFFFF"/>
                          </a:solidFill>
                          <a:latin typeface="Arial"/>
                          <a:ea typeface="Arial"/>
                          <a:cs typeface="Arial"/>
                        </a:rPr>
                        <a:t>Cost component</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Shared allocation</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Dedicated run</a:t>
                      </a:r>
                    </a:p>
                  </a:txBody>
                  <a:tcPr marL="133350" marR="133350" marT="133350" marB="114300" anchor="ctr">
                    <a:solidFill>
                      <a:srgbClr val="162C3F"/>
                    </a:solidFill>
                  </a:tcPr>
                </a:tc>
              </a:tr>
              <a:tr h="574675">
                <a:tc>
                  <a:txBody>
                    <a:bodyPr/>
                    <a:lstStyle/>
                    <a:p>
                      <a:r>
                        <a:rPr sz="1875">
                          <a:solidFill>
                            <a:srgbClr val="162C3F"/>
                          </a:solidFill>
                          <a:latin typeface="Arial"/>
                          <a:ea typeface="Arial"/>
                          <a:cs typeface="Arial"/>
                        </a:rPr>
                        <a:t>Preparation and QC</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$600.00</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$600.00</a:t>
                      </a:r>
                    </a:p>
                  </a:txBody>
                  <a:tcPr marL="133350" marR="133350" marT="133350" marB="114300" anchor="ctr">
                    <a:solidFill>
                      <a:srgbClr val="FFFFFF"/>
                    </a:solidFill>
                  </a:tcPr>
                </a:tc>
              </a:tr>
              <a:tr h="574675">
                <a:tc>
                  <a:txBody>
                    <a:bodyPr/>
                    <a:lstStyle/>
                    <a:p>
                      <a:r>
                        <a:rPr sz="1875">
                          <a:solidFill>
                            <a:srgbClr val="162C3F"/>
                          </a:solidFill>
                          <a:latin typeface="Arial"/>
                          <a:ea typeface="Arial"/>
                          <a:cs typeface="Arial"/>
                        </a:rPr>
                        <a:t>Sequencing and instrument</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$50.10</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$17,200.00</a:t>
                      </a:r>
                    </a:p>
                  </a:txBody>
                  <a:tcPr marL="133350" marR="133350" marT="133350" marB="114300" anchor="ctr">
                    <a:solidFill>
                      <a:srgbClr val="FFFFFF"/>
                    </a:solidFill>
                  </a:tcPr>
                </a:tc>
              </a:tr>
              <a:tr h="574675">
                <a:tc>
                  <a:txBody>
                    <a:bodyPr/>
                    <a:lstStyle/>
                    <a:p>
                      <a:r>
                        <a:rPr sz="1875">
                          <a:solidFill>
                            <a:srgbClr val="162C3F"/>
                          </a:solidFill>
                          <a:latin typeface="Arial"/>
                          <a:ea typeface="Arial"/>
                          <a:cs typeface="Arial"/>
                        </a:rPr>
                        <a:t>Compute and storage</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$0.48</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$0.48</a:t>
                      </a:r>
                    </a:p>
                  </a:txBody>
                  <a:tcPr marL="133350" marR="133350" marT="133350" marB="114300" anchor="ctr">
                    <a:solidFill>
                      <a:srgbClr val="FFFFFF"/>
                    </a:solidFill>
                  </a:tcPr>
                </a:tc>
              </a:tr>
              <a:tr h="574675">
                <a:tc>
                  <a:txBody>
                    <a:bodyPr/>
                    <a:lstStyle/>
                    <a:p>
                      <a:r>
                        <a:rPr sz="1875">
                          <a:solidFill>
                            <a:srgbClr val="162C3F"/>
                          </a:solidFill>
                          <a:latin typeface="Arial"/>
                          <a:ea typeface="Arial"/>
                          <a:cs typeface="Arial"/>
                        </a:rPr>
                        <a:t>Contingency</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$97.59</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$2,670.07</a:t>
                      </a:r>
                    </a:p>
                  </a:txBody>
                  <a:tcPr marL="133350" marR="133350" marT="133350" marB="114300" anchor="ctr">
                    <a:solidFill>
                      <a:srgbClr val="FFFFFF"/>
                    </a:solidFill>
                  </a:tcPr>
                </a:tc>
              </a:tr>
              <a:tr h="574675">
                <a:tc>
                  <a:txBody>
                    <a:bodyPr/>
                    <a:lstStyle/>
                    <a:p>
                      <a:r>
                        <a:rPr sz="1875">
                          <a:solidFill>
                            <a:srgbClr val="162C3F"/>
                          </a:solidFill>
                          <a:latin typeface="Arial"/>
                          <a:ea typeface="Arial"/>
                          <a:cs typeface="Arial"/>
                        </a:rPr>
                        <a:t>Total</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$748.17</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$20,470.55</a:t>
                      </a:r>
                    </a:p>
                  </a:txBody>
                  <a:tcPr marL="133350" marR="133350" marT="13335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276F1D6-3005-41FA-8179-B07C0FFE3E4B}"/>
              </a:ext>
            </a:extLst>
          </p:cNvPr>
          <p:cNvSpPr>
            <a:spLocks xmlns:a="http://schemas.openxmlformats.org/drawingml/2006/main" noGrp="1"/>
          </p:cNvSpPr>
          <p:nvPr/>
        </p:nvSpPr>
        <p:spPr>
          <a:xfrm xmlns:a="http://schemas.openxmlformats.org/drawingml/2006/main">
            <a:off x="609600" y="5581650"/>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Shared allocation assumes an available pool. A dedicated run has a minimum bill</a:t>
            </a:r>
          </a:p>
        </p:txBody>
      </p:sp>
    </p:spTree>
    <p:extLst>
      <p:ext uri="{BB962C8B-B14F-4D97-AF65-F5344CB8AC3E}">
        <p14:creationId xmlns:p14="http://schemas.microsoft.com/office/powerpoint/2010/main" val="13668865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D68532-717B-4822-A792-34B3F96BD9E9}"/>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A reviewable recommendation</a:t>
            </a:r>
          </a:p>
        </p:txBody>
      </p:sp>
      <p:sp>
        <p:nvSpPr>
          <p:cNvPr id="2" name="">
            <a:extLst xmlns:a="http://schemas.openxmlformats.org/drawingml/2006/main">
              <a:ext uri="{FF2B5EF4-FFF2-40B4-BE49-F238E27FC236}">
                <a16:creationId xmlns:a16="http://schemas.microsoft.com/office/drawing/2014/main" id="{D4DEAF79-A459-480C-BE82-5FCE497AD264}"/>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73FB85F-8E85-4574-8AFB-413F863FE8B3}"/>
              </a:ext>
            </a:extLst>
          </p:cNvPr>
          <p:cNvSpPr>
            <a:spLocks xmlns:a="http://schemas.openxmlformats.org/drawingml/2006/main" noGrp="1"/>
          </p:cNvSpPr>
          <p:nvPr/>
        </p:nvSpPr>
        <p:spPr>
          <a:xfrm xmlns:a="http://schemas.openxmlformats.org/drawingml/2006/main">
            <a:off x="609600" y="13620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877"/>
                </a:solidFill>
                <a:latin typeface="Arial"/>
                <a:ea typeface="Arial"/>
                <a:cs typeface="Arial"/>
              </a:defRPr>
            </a:pPr>
            <a:r>
              <a:rPr sz="1875" b="0">
                <a:solidFill>
                  <a:srgbClr val="536877"/>
                </a:solidFill>
                <a:latin typeface="Arial"/>
                <a:ea typeface="Arial"/>
                <a:cs typeface="Arial"/>
              </a:rPr>
              <a:t>Organism, objective and budget produce a design with reasons and limits</a:t>
            </a:r>
          </a:p>
        </p:txBody>
      </p:sp>
      <p:graphicFrame>
        <p:nvGraphicFramePr>
          <p:cNvPr id="9" name=""/>
          <p:cNvGraphicFramePr/>
          <p:nvPr/>
        </p:nvGraphicFramePr>
        <p:xfrm>
          <a:off xmlns:a="http://schemas.openxmlformats.org/drawingml/2006/main" x="609600" y="2019300"/>
          <a:ext xmlns:a="http://schemas.openxmlformats.org/drawingml/2006/main" cx="10972800" cy="3238500"/>
        </p:xfrm>
        <a:graphic xmlns:a="http://schemas.openxmlformats.org/drawingml/2006/main">
          <a:graphicData uri="http://schemas.openxmlformats.org/drawingml/2006/table">
            <a:tbl>
              <a:tblPr/>
              <a:tblGrid>
                <a:gridCol w="4476750"/>
                <a:gridCol w="6496050"/>
              </a:tblGrid>
              <a:tr h="647700">
                <a:tc>
                  <a:txBody>
                    <a:bodyPr/>
                    <a:lstStyle/>
                    <a:p>
                      <a:r>
                        <a:rPr sz="1875" b="1">
                          <a:solidFill>
                            <a:srgbClr val="FFFFFF"/>
                          </a:solidFill>
                          <a:latin typeface="Arial"/>
                          <a:ea typeface="Arial"/>
                          <a:cs typeface="Arial"/>
                        </a:rPr>
                        <a:t>Input / output</a:t>
                      </a:r>
                    </a:p>
                  </a:txBody>
                  <a:tcPr marL="133350" marR="133350" marT="133350" marB="114300" anchor="ctr">
                    <a:solidFill>
                      <a:srgbClr val="162C3F"/>
                    </a:solidFill>
                  </a:tcPr>
                </a:tc>
                <a:tc>
                  <a:txBody>
                    <a:bodyPr/>
                    <a:lstStyle/>
                    <a:p>
                      <a:r>
                        <a:rPr sz="1875" b="1">
                          <a:solidFill>
                            <a:srgbClr val="FFFFFF"/>
                          </a:solidFill>
                          <a:latin typeface="Arial"/>
                          <a:ea typeface="Arial"/>
                          <a:cs typeface="Arial"/>
                        </a:rPr>
                        <a:t>Scenario value</a:t>
                      </a:r>
                    </a:p>
                  </a:txBody>
                  <a:tcPr marL="133350" marR="133350" marT="133350" marB="114300" anchor="ctr">
                    <a:solidFill>
                      <a:srgbClr val="162C3F"/>
                    </a:solidFill>
                  </a:tcPr>
                </a:tc>
              </a:tr>
              <a:tr h="647700">
                <a:tc>
                  <a:txBody>
                    <a:bodyPr/>
                    <a:lstStyle/>
                    <a:p>
                      <a:r>
                        <a:rPr sz="1875">
                          <a:solidFill>
                            <a:srgbClr val="162C3F"/>
                          </a:solidFill>
                          <a:latin typeface="Arial"/>
                          <a:ea typeface="Arial"/>
                          <a:cs typeface="Arial"/>
                        </a:rPr>
                        <a:t>Organism and question</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Bacterial isolate SNVs</a:t>
                      </a:r>
                    </a:p>
                  </a:txBody>
                  <a:tcPr marL="133350" marR="133350" marT="133350" marB="114300" anchor="ctr">
                    <a:solidFill>
                      <a:srgbClr val="FFFFFF"/>
                    </a:solidFill>
                  </a:tcPr>
                </a:tc>
              </a:tr>
              <a:tr h="647700">
                <a:tc>
                  <a:txBody>
                    <a:bodyPr/>
                    <a:lstStyle/>
                    <a:p>
                      <a:r>
                        <a:rPr sz="1875">
                          <a:solidFill>
                            <a:srgbClr val="162C3F"/>
                          </a:solidFill>
                          <a:latin typeface="Arial"/>
                          <a:ea typeface="Arial"/>
                          <a:cs typeface="Arial"/>
                        </a:rPr>
                        <a:t>Samples and budget</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6 samples, $1,200</a:t>
                      </a:r>
                    </a:p>
                  </a:txBody>
                  <a:tcPr marL="133350" marR="133350" marT="133350" marB="114300" anchor="ctr">
                    <a:solidFill>
                      <a:srgbClr val="FFFFFF"/>
                    </a:solidFill>
                  </a:tcPr>
                </a:tc>
              </a:tr>
              <a:tr h="647700">
                <a:tc>
                  <a:txBody>
                    <a:bodyPr/>
                    <a:lstStyle/>
                    <a:p>
                      <a:r>
                        <a:rPr sz="1875">
                          <a:solidFill>
                            <a:srgbClr val="162C3F"/>
                          </a:solidFill>
                          <a:latin typeface="Arial"/>
                          <a:ea typeface="Arial"/>
                          <a:cs typeface="Arial"/>
                        </a:rPr>
                        <a:t>Platform / provisional target</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Illumina short reads, 20× effective target</a:t>
                      </a:r>
                    </a:p>
                  </a:txBody>
                  <a:tcPr marL="133350" marR="133350" marT="133350" marB="114300" anchor="ctr">
                    <a:solidFill>
                      <a:srgbClr val="FFFFFF"/>
                    </a:solidFill>
                  </a:tcPr>
                </a:tc>
              </a:tr>
              <a:tr h="647700">
                <a:tc>
                  <a:txBody>
                    <a:bodyPr/>
                    <a:lstStyle/>
                    <a:p>
                      <a:r>
                        <a:rPr sz="1875">
                          <a:solidFill>
                            <a:srgbClr val="162C3F"/>
                          </a:solidFill>
                          <a:latin typeface="Arial"/>
                          <a:ea typeface="Arial"/>
                          <a:cs typeface="Arial"/>
                        </a:rPr>
                        <a:t>Planning estimate</a:t>
                      </a:r>
                    </a:p>
                  </a:txBody>
                  <a:tcPr marL="133350" marR="133350" marT="133350" marB="114300" anchor="ctr">
                    <a:solidFill>
                      <a:srgbClr val="FFFFFF"/>
                    </a:solidFill>
                  </a:tcPr>
                </a:tc>
                <a:tc>
                  <a:txBody>
                    <a:bodyPr/>
                    <a:lstStyle/>
                    <a:p>
                      <a:r>
                        <a:rPr sz="1875">
                          <a:solidFill>
                            <a:srgbClr val="162C3F"/>
                          </a:solidFill>
                          <a:latin typeface="Arial"/>
                          <a:ea typeface="Arial"/>
                          <a:cs typeface="Arial"/>
                        </a:rPr>
                        <a:t>$748.17 total, 2 × 150 bp</a:t>
                      </a:r>
                    </a:p>
                  </a:txBody>
                  <a:tcPr marL="133350" marR="133350" marT="13335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6478C32-7780-4085-8C54-A4AAB909BD25}"/>
              </a:ext>
            </a:extLst>
          </p:cNvPr>
          <p:cNvSpPr>
            <a:spLocks xmlns:a="http://schemas.openxmlformats.org/drawingml/2006/main" noGrp="1"/>
          </p:cNvSpPr>
          <p:nvPr/>
        </p:nvSpPr>
        <p:spPr>
          <a:xfrm xmlns:a="http://schemas.openxmlformats.org/drawingml/2006/main">
            <a:off x="609600" y="5505450"/>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47F83"/>
                </a:solidFill>
                <a:latin typeface="Arial"/>
                <a:ea typeface="Arial"/>
                <a:cs typeface="Arial"/>
              </a:defRPr>
            </a:pPr>
            <a:r>
              <a:rPr sz="2025" b="1">
                <a:solidFill>
                  <a:srgbClr val="047F83"/>
                </a:solidFill>
                <a:latin typeface="Arial"/>
                <a:ea typeface="Arial"/>
                <a:cs typeface="Arial"/>
              </a:rPr>
              <a:t>Detection output estimates observation support under stated assumptions</a:t>
            </a:r>
          </a:p>
        </p:txBody>
      </p:sp>
    </p:spTree>
    <p:extLst>
      <p:ext uri="{BB962C8B-B14F-4D97-AF65-F5344CB8AC3E}">
        <p14:creationId xmlns:p14="http://schemas.microsoft.com/office/powerpoint/2010/main" val="2482326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BE15C8-C12B-44EF-A373-137DE1CD0F19}"/>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Validation limits</a:t>
            </a:r>
          </a:p>
        </p:txBody>
      </p:sp>
      <p:sp>
        <p:nvSpPr>
          <p:cNvPr id="2" name="">
            <a:extLst xmlns:a="http://schemas.openxmlformats.org/drawingml/2006/main">
              <a:ext uri="{FF2B5EF4-FFF2-40B4-BE49-F238E27FC236}">
                <a16:creationId xmlns:a16="http://schemas.microsoft.com/office/drawing/2014/main" id="{F3572D2F-703D-4175-917B-860892907F27}"/>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0FB9B9D-E432-4F8E-A53E-AF817CD24495}"/>
              </a:ext>
            </a:extLst>
          </p:cNvPr>
          <p:cNvSpPr>
            <a:spLocks xmlns:a="http://schemas.openxmlformats.org/drawingml/2006/main" noGrp="1"/>
          </p:cNvSpPr>
          <p:nvPr/>
        </p:nvSpPr>
        <p:spPr>
          <a:xfrm xmlns:a="http://schemas.openxmlformats.org/drawingml/2006/main">
            <a:off x="609600" y="14001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47F83"/>
                </a:solidFill>
                <a:latin typeface="Arial"/>
                <a:ea typeface="Arial"/>
                <a:cs typeface="Arial"/>
              </a:defRPr>
            </a:pPr>
            <a:r>
              <a:rPr sz="2250" b="1">
                <a:solidFill>
                  <a:srgbClr val="047F83"/>
                </a:solidFill>
                <a:latin typeface="Arial"/>
                <a:ea typeface="Arial"/>
                <a:cs typeface="Arial"/>
              </a:rPr>
              <a:t>The measured endpoint defines the scope of the evidence</a:t>
            </a:r>
          </a:p>
        </p:txBody>
      </p:sp>
      <p:sp>
        <p:nvSpPr>
          <p:cNvPr id="4" name="">
            <a:extLst xmlns:a="http://schemas.openxmlformats.org/drawingml/2006/main">
              <a:ext uri="{FF2B5EF4-FFF2-40B4-BE49-F238E27FC236}">
                <a16:creationId xmlns:a16="http://schemas.microsoft.com/office/drawing/2014/main" id="{089BBC51-5FCE-45F7-86BF-AB6B6B189B47}"/>
              </a:ext>
            </a:extLst>
          </p:cNvPr>
          <p:cNvSpPr>
            <a:spLocks xmlns:a="http://schemas.openxmlformats.org/drawingml/2006/main" noGrp="1"/>
          </p:cNvSpPr>
          <p:nvPr/>
        </p:nvSpPr>
        <p:spPr>
          <a:xfrm xmlns:a="http://schemas.openxmlformats.org/drawingml/2006/main">
            <a:off x="609600" y="25431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The bacterial pilot measures mapping and reference breadth</a:t>
            </a:r>
          </a:p>
        </p:txBody>
      </p:sp>
      <p:sp>
        <p:nvSpPr>
          <p:cNvPr id="5" name="">
            <a:extLst xmlns:a="http://schemas.openxmlformats.org/drawingml/2006/main">
              <a:ext uri="{FF2B5EF4-FFF2-40B4-BE49-F238E27FC236}">
                <a16:creationId xmlns:a16="http://schemas.microsoft.com/office/drawing/2014/main" id="{E8AB28B3-679C-4277-87A2-7B9132ADE146}"/>
              </a:ext>
            </a:extLst>
          </p:cNvPr>
          <p:cNvSpPr>
            <a:spLocks xmlns:a="http://schemas.openxmlformats.org/drawingml/2006/main" noGrp="1"/>
          </p:cNvSpPr>
          <p:nvPr/>
        </p:nvSpPr>
        <p:spPr>
          <a:xfrm xmlns:a="http://schemas.openxmlformats.org/drawingml/2006/main">
            <a:off x="609600" y="34099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Different samples, dates and library metadata limit causal comparisons</a:t>
            </a:r>
          </a:p>
        </p:txBody>
      </p:sp>
      <p:sp>
        <p:nvSpPr>
          <p:cNvPr id="6" name="">
            <a:extLst xmlns:a="http://schemas.openxmlformats.org/drawingml/2006/main">
              <a:ext uri="{FF2B5EF4-FFF2-40B4-BE49-F238E27FC236}">
                <a16:creationId xmlns:a16="http://schemas.microsoft.com/office/drawing/2014/main" id="{07617D13-493E-4E3B-950A-5852E57A6369}"/>
              </a:ext>
            </a:extLst>
          </p:cNvPr>
          <p:cNvSpPr>
            <a:spLocks xmlns:a="http://schemas.openxmlformats.org/drawingml/2006/main" noGrp="1"/>
          </p:cNvSpPr>
          <p:nvPr/>
        </p:nvSpPr>
        <p:spPr>
          <a:xfrm xmlns:a="http://schemas.openxmlformats.org/drawingml/2006/main">
            <a:off x="609600" y="42767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Variant accuracy, RNA power and assembly quality need separate truth validation</a:t>
            </a:r>
          </a:p>
        </p:txBody>
      </p:sp>
      <p:sp>
        <p:nvSpPr>
          <p:cNvPr id="7" name="">
            <a:extLst xmlns:a="http://schemas.openxmlformats.org/drawingml/2006/main">
              <a:ext uri="{FF2B5EF4-FFF2-40B4-BE49-F238E27FC236}">
                <a16:creationId xmlns:a16="http://schemas.microsoft.com/office/drawing/2014/main" id="{02246BBB-A62D-4A95-A27A-A0513BAF028B}"/>
              </a:ext>
            </a:extLst>
          </p:cNvPr>
          <p:cNvSpPr>
            <a:spLocks xmlns:a="http://schemas.openxmlformats.org/drawingml/2006/main" noGrp="1"/>
          </p:cNvSpPr>
          <p:nvPr/>
        </p:nvSpPr>
        <p:spPr>
          <a:xfrm xmlns:a="http://schemas.openxmlformats.org/drawingml/2006/main">
            <a:off x="609600" y="51435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Shared-pool pricing and cloud coefficients remain planning assumptions</a:t>
            </a:r>
          </a:p>
        </p:txBody>
      </p:sp>
    </p:spTree>
    <p:extLst>
      <p:ext uri="{BB962C8B-B14F-4D97-AF65-F5344CB8AC3E}">
        <p14:creationId xmlns:p14="http://schemas.microsoft.com/office/powerpoint/2010/main" val="3338950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642815-6347-4599-9E6E-3F3966A439F5}"/>
              </a:ext>
            </a:extLst>
          </p:cNvPr>
          <p:cNvSpPr>
            <a:spLocks xmlns:a="http://schemas.openxmlformats.org/drawingml/2006/main" noGrp="1"/>
          </p:cNvSpPr>
          <p:nvPr/>
        </p:nvSpPr>
        <p:spPr>
          <a:xfrm xmlns:a="http://schemas.openxmlformats.org/drawingml/2006/main">
            <a:off x="60960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C3F"/>
                </a:solidFill>
                <a:latin typeface="Arial"/>
                <a:ea typeface="Arial"/>
                <a:cs typeface="Arial"/>
              </a:defRPr>
            </a:pPr>
            <a:r>
              <a:rPr sz="3450" b="1">
                <a:solidFill>
                  <a:srgbClr val="162C3F"/>
                </a:solidFill>
                <a:latin typeface="Arial"/>
                <a:ea typeface="Arial"/>
                <a:cs typeface="Arial"/>
              </a:rPr>
              <a:t>Reproduction and submission bundle</a:t>
            </a:r>
          </a:p>
        </p:txBody>
      </p:sp>
      <p:sp>
        <p:nvSpPr>
          <p:cNvPr id="2" name="">
            <a:extLst xmlns:a="http://schemas.openxmlformats.org/drawingml/2006/main">
              <a:ext uri="{FF2B5EF4-FFF2-40B4-BE49-F238E27FC236}">
                <a16:creationId xmlns:a16="http://schemas.microsoft.com/office/drawing/2014/main" id="{0A3EFD8B-C0D4-409E-BC1D-4109351644E1}"/>
              </a:ext>
            </a:extLst>
          </p:cNvPr>
          <p:cNvSpPr>
            <a:spLocks xmlns:a="http://schemas.openxmlformats.org/drawingml/2006/main" noGrp="1"/>
          </p:cNvSpPr>
          <p:nvPr/>
        </p:nvSpPr>
        <p:spPr>
          <a:xfrm xmlns:a="http://schemas.openxmlformats.org/drawingml/2006/main">
            <a:off x="11334750" y="6400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36877"/>
                </a:solidFill>
                <a:latin typeface="Arial"/>
                <a:ea typeface="Arial"/>
                <a:cs typeface="Arial"/>
              </a:defRPr>
            </a:pPr>
            <a:r>
              <a:rPr sz="1200" b="0">
                <a:solidFill>
                  <a:srgbClr val="53687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3B6D500-9639-4DF7-B2E1-C10C1714633F}"/>
              </a:ext>
            </a:extLst>
          </p:cNvPr>
          <p:cNvSpPr>
            <a:spLocks xmlns:a="http://schemas.openxmlformats.org/drawingml/2006/main" noGrp="1"/>
          </p:cNvSpPr>
          <p:nvPr/>
        </p:nvSpPr>
        <p:spPr>
          <a:xfrm xmlns:a="http://schemas.openxmlformats.org/drawingml/2006/main">
            <a:off x="609600" y="14001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47F83"/>
                </a:solidFill>
                <a:latin typeface="Arial"/>
                <a:ea typeface="Arial"/>
                <a:cs typeface="Arial"/>
              </a:defRPr>
            </a:pPr>
            <a:r>
              <a:rPr sz="2250" b="1">
                <a:solidFill>
                  <a:srgbClr val="047F83"/>
                </a:solidFill>
                <a:latin typeface="Arial"/>
                <a:ea typeface="Arial"/>
                <a:cs typeface="Arial"/>
              </a:rPr>
              <a:t>The advisor makes the reasoning behind a sequencing design reviewable</a:t>
            </a:r>
          </a:p>
        </p:txBody>
      </p:sp>
      <p:sp>
        <p:nvSpPr>
          <p:cNvPr id="4" name="">
            <a:extLst xmlns:a="http://schemas.openxmlformats.org/drawingml/2006/main">
              <a:ext uri="{FF2B5EF4-FFF2-40B4-BE49-F238E27FC236}">
                <a16:creationId xmlns:a16="http://schemas.microsoft.com/office/drawing/2014/main" id="{90D8CF27-E15F-4A5C-A6BF-E9A8D0E0EEC4}"/>
              </a:ext>
            </a:extLst>
          </p:cNvPr>
          <p:cNvSpPr>
            <a:spLocks xmlns:a="http://schemas.openxmlformats.org/drawingml/2006/main" noGrp="1"/>
          </p:cNvSpPr>
          <p:nvPr/>
        </p:nvSpPr>
        <p:spPr>
          <a:xfrm xmlns:a="http://schemas.openxmlformats.org/drawingml/2006/main">
            <a:off x="609600" y="25431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A real small fixture supports a quick reproducibility check</a:t>
            </a:r>
          </a:p>
        </p:txBody>
      </p:sp>
      <p:sp>
        <p:nvSpPr>
          <p:cNvPr id="5" name="">
            <a:extLst xmlns:a="http://schemas.openxmlformats.org/drawingml/2006/main">
              <a:ext uri="{FF2B5EF4-FFF2-40B4-BE49-F238E27FC236}">
                <a16:creationId xmlns:a16="http://schemas.microsoft.com/office/drawing/2014/main" id="{04BD1D81-C3CE-4E96-BB61-83742BD08A9D}"/>
              </a:ext>
            </a:extLst>
          </p:cNvPr>
          <p:cNvSpPr>
            <a:spLocks xmlns:a="http://schemas.openxmlformats.org/drawingml/2006/main" noGrp="1"/>
          </p:cNvSpPr>
          <p:nvPr/>
        </p:nvSpPr>
        <p:spPr>
          <a:xfrm xmlns:a="http://schemas.openxmlformats.org/drawingml/2006/main">
            <a:off x="609600" y="34099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Source, workflow and environment instructions accompany the results</a:t>
            </a:r>
          </a:p>
        </p:txBody>
      </p:sp>
      <p:sp>
        <p:nvSpPr>
          <p:cNvPr id="6" name="">
            <a:extLst xmlns:a="http://schemas.openxmlformats.org/drawingml/2006/main">
              <a:ext uri="{FF2B5EF4-FFF2-40B4-BE49-F238E27FC236}">
                <a16:creationId xmlns:a16="http://schemas.microsoft.com/office/drawing/2014/main" id="{29A914D2-8EF6-4A7F-B712-2BD1BB417081}"/>
              </a:ext>
            </a:extLst>
          </p:cNvPr>
          <p:cNvSpPr>
            <a:spLocks xmlns:a="http://schemas.openxmlformats.org/drawingml/2006/main" noGrp="1"/>
          </p:cNvSpPr>
          <p:nvPr/>
        </p:nvSpPr>
        <p:spPr>
          <a:xfrm xmlns:a="http://schemas.openxmlformats.org/drawingml/2006/main">
            <a:off x="609600" y="42767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The contribution record must reflect actual technical work by both partners</a:t>
            </a:r>
          </a:p>
        </p:txBody>
      </p:sp>
      <p:sp>
        <p:nvSpPr>
          <p:cNvPr id="7" name="">
            <a:extLst xmlns:a="http://schemas.openxmlformats.org/drawingml/2006/main">
              <a:ext uri="{FF2B5EF4-FFF2-40B4-BE49-F238E27FC236}">
                <a16:creationId xmlns:a16="http://schemas.microsoft.com/office/drawing/2014/main" id="{BBB38ED9-4273-445A-8064-13F4D1A4D494}"/>
              </a:ext>
            </a:extLst>
          </p:cNvPr>
          <p:cNvSpPr>
            <a:spLocks xmlns:a="http://schemas.openxmlformats.org/drawingml/2006/main" noGrp="1"/>
          </p:cNvSpPr>
          <p:nvPr/>
        </p:nvSpPr>
        <p:spPr>
          <a:xfrm xmlns:a="http://schemas.openxmlformats.org/drawingml/2006/main">
            <a:off x="609600" y="51435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C3F"/>
                </a:solidFill>
                <a:latin typeface="Arial"/>
                <a:ea typeface="Arial"/>
                <a:cs typeface="Arial"/>
              </a:defRPr>
            </a:pPr>
            <a:r>
              <a:rPr sz="2100" b="0">
                <a:solidFill>
                  <a:srgbClr val="162C3F"/>
                </a:solidFill>
                <a:latin typeface="Arial"/>
                <a:ea typeface="Arial"/>
                <a:cs typeface="Arial"/>
              </a:rPr>
              <a:t>The AI appendix discloses assistance with code and materials</a:t>
            </a:r>
          </a:p>
        </p:txBody>
      </p:sp>
    </p:spTree>
    <p:extLst>
      <p:ext uri="{BB962C8B-B14F-4D97-AF65-F5344CB8AC3E}">
        <p14:creationId xmlns:p14="http://schemas.microsoft.com/office/powerpoint/2010/main" val="13830911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2026-10-06T14:50:53.0550000Z</dcterms:created>
  <dcterms:modified xsi:type="dcterms:W3CDTF">2026-10-06T14:50:53.0560000Z</dcterms:modified>
</coreProperties>
</file>